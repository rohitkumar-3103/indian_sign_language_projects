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75C30C-B02B-A111-24D5-5D652F114E67}">
          <p14:sldIdLst>
            <p14:sldId id="256"/>
          </p14:sldIdLst>
        </p14:section>
        <p14:section name="Introduction" id="{1DC75423-3898-47BA-2CC7-E8C76A326B33}">
          <p14:sldIdLst>
            <p14:sldId id="257"/>
            <p14:sldId id="258"/>
            <p14:sldId id="259"/>
            <p14:sldId id="260"/>
          </p14:sldIdLst>
        </p14:section>
        <p14:section name="Method" id="{653B31FF-CF76-CDE0-3EFB-9B5B08296AF4}">
          <p14:sldIdLst>
            <p14:sldId id="261"/>
            <p14:sldId id="262"/>
            <p14:sldId id="263"/>
            <p14:sldId id="264"/>
            <p14:sldId id="265"/>
            <p14:sldId id="266"/>
          </p14:sldIdLst>
        </p14:section>
        <p14:section name="Results" id="{4D92C278-4EFC-727C-D360-148F770AAFFF}">
          <p14:sldIdLst>
            <p14:sldId id="267"/>
            <p14:sldId id="268"/>
            <p14:sldId id="269"/>
            <p14:sldId id="270"/>
            <p14:sldId id="271"/>
          </p14:sldIdLst>
        </p14:section>
        <p14:section name="Conclusion" id="{B81620E8-FB76-E889-9C71-E601C684E882}">
          <p14:sldIdLst>
            <p14:sldId id="272"/>
            <p14:sldId id="2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334155"/>
                </a:solidFill>
                <a:latin typeface="+mn-lt"/>
                <a:ea typeface="+mn-ea"/>
                <a:cs typeface="+mn-cs"/>
              </a:defRPr>
            </a:pPr>
            <a:r>
              <a:rPr sz="1400" b="0" i="0" u="none" strike="noStrike">
                <a:solidFill>
                  <a:srgbClr val="334155"/>
                </a:solidFill>
                <a:latin typeface="+mn-lt"/>
              </a:rPr>
              <a:t>Word error rate (%) by hold time</a:t>
            </a:r>
            <a:endParaRPr sz="1400" b="0" i="0" u="none" strike="noStrike">
              <a:solidFill>
                <a:srgbClr val="334155"/>
              </a:solidFill>
              <a:latin typeface="+mn-lt"/>
            </a:endParaRPr>
          </a:p>
        </c:rich>
      </c:tx>
      <c:layout/>
      <c:overlay val="0"/>
    </c:title>
    <c:autoTitleDeleted val="0"/>
    <c:plotArea>
      <c:layout/>
      <c:barChart>
        <c:barDir val="col"/>
        <c:grouping val="clustered"/>
        <c:varyColors val="0"/>
        <c:ser>
          <c:idx val="0"/>
          <c:order val="0"/>
          <c:tx>
            <c:strRef>
              <c:f>Sheet1!$B$1</c:f>
              <c:strCache>
                <c:ptCount val="1"/>
                <c:pt idx="0">
                  <c:v>Word error rate (%)</c:v>
                </c:pt>
              </c:strCache>
            </c:strRef>
          </c:tx>
          <c:spPr>
            <a:solidFill>
              <a:srgbClr val="94A3B8"/>
            </a:solidFill>
            <a:effectLst/>
          </c:spPr>
          <c:invertIfNegative val="0"/>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10B981"/>
              </a:solidFill>
              <a:effectLst/>
            </c:spPr>
          </c:dPt>
          <c:dPt>
            <c:idx val="3"/>
            <c:invertIfNegative val="0"/>
            <c:bubble3D val="0"/>
            <c:spPr>
              <a:solidFill>
                <a:srgbClr val="94A3B8"/>
              </a:solidFill>
              <a:effectLst/>
            </c:spPr>
          </c:dPt>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F17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No hold</c:v>
                </c:pt>
                <c:pt idx="1">
                  <c:v>0.8 s</c:v>
                </c:pt>
                <c:pt idx="2">
                  <c:v>1.5 s</c:v>
                </c:pt>
                <c:pt idx="3">
                  <c:v>2.5 s</c:v>
                </c:pt>
              </c:strCache>
            </c:strRef>
          </c:cat>
          <c:val>
            <c:numRef>
              <c:f>Sheet1!$B$2:$B$5</c:f>
              <c:numCache>
                <c:formatCode>General</c:formatCode>
                <c:ptCount val="4"/>
                <c:pt idx="0">
                  <c:v>64.2</c:v>
                </c:pt>
                <c:pt idx="1">
                  <c:v>18.5</c:v>
                </c:pt>
                <c:pt idx="2">
                  <c:v>3.8</c:v>
                </c:pt>
                <c:pt idx="3">
                  <c:v>3.2</c:v>
                </c:pt>
              </c:numCache>
            </c:numRef>
          </c:val>
        </c:ser>
        <c:dLbls>
          <c:showLegendKey val="0"/>
          <c:showVal val="1"/>
          <c:showCatName val="0"/>
          <c:showSerName val="0"/>
          <c:showPercent val="0"/>
          <c:showBubbleSize val="0"/>
        </c:dLbls>
        <c:gapWidth val="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334155"/>
                </a:solidFill>
                <a:latin typeface="+mn-lt"/>
                <a:ea typeface="+mn-ea"/>
                <a:cs typeface="+mn-cs"/>
              </a:defRPr>
            </a:pPr>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mn-lt"/>
                <a:ea typeface="+mn-ea"/>
                <a:cs typeface="+mn-cs"/>
              </a:defRPr>
            </a:pPr>
          </a:p>
        </c:txPr>
        <c:crossAx val="2094734554"/>
        <c:crosses val="autoZero"/>
        <c:crossBetween val="between"/>
        <c:majorUnit val="20"/>
      </c:valAx>
      <c:spPr>
        <a:noFill/>
        <a:ln>
          <a:noFill/>
        </a:ln>
        <a:effectLst/>
      </c:spPr>
    </c:plotArea>
    <c:plotVisOnly val="1"/>
    <c:dispBlanksAs val="span"/>
    <c:showDLblsOverMax val="0"/>
    <c:extLst>
      <c:ext uri="{0b15fc19-7d7d-44ad-8c2d-2c3a37ce22c3}">
        <chartProps xmlns="https://web.wps.cn/et/2018/main" chartId="{8d78ef3f-57bc-419b-98d3-7eecabe91126}"/>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explosion val="0"/>
          <c:dPt>
            <c:idx val="0"/>
            <c:bubble3D val="0"/>
            <c:spPr>
              <a:solidFill>
                <a:srgbClr val="047857"/>
              </a:solidFill>
              <a:ln w="12700" cap="flat">
                <a:solidFill>
                  <a:srgbClr val="FFFFFF"/>
                </a:solidFill>
                <a:prstDash val="solid"/>
                <a:round/>
              </a:ln>
              <a:effectLst/>
            </c:spPr>
          </c:dPt>
          <c:dPt>
            <c:idx val="1"/>
            <c:bubble3D val="0"/>
            <c:spPr>
              <a:solidFill>
                <a:srgbClr val="4F46E5"/>
              </a:solidFill>
              <a:ln w="12700" cap="flat">
                <a:solidFill>
                  <a:srgbClr val="FFFFFF"/>
                </a:solidFill>
                <a:prstDash val="solid"/>
                <a:round/>
              </a:ln>
              <a:effectLst/>
            </c:spPr>
          </c:dPt>
          <c:dPt>
            <c:idx val="2"/>
            <c:bubble3D val="0"/>
            <c:spPr>
              <a:solidFill>
                <a:srgbClr val="B45309"/>
              </a:solidFill>
              <a:ln w="12700" cap="flat">
                <a:solidFill>
                  <a:srgbClr val="FFFFFF"/>
                </a:solidFill>
                <a:prstDash val="solid"/>
                <a:round/>
              </a:ln>
              <a:effectLst/>
            </c:spPr>
          </c:dPt>
          <c:dLbls>
            <c:dLbl>
              <c:idx val="0"/>
              <c:layout/>
              <c:numFmt formatCode="0%" sourceLinked="0"/>
              <c:spPr>
                <a:noFill/>
                <a:ln>
                  <a:noFill/>
                </a:ln>
                <a:effectLst/>
              </c:spPr>
              <c:txPr>
                <a:bodyPr rot="0" spcFirstLastPara="0" vertOverflow="ellipsis" vert="horz" wrap="square" lIns="38100" tIns="19050" rIns="38100" bIns="19050" anchor="ctr" anchorCtr="1"/>
                <a:lstStyle/>
                <a:p>
                  <a:pPr>
                    <a:defRPr lang="en-US" sz="1400" b="1" i="0" u="none" strike="noStrike" kern="1200" baseline="0">
                      <a:solidFill>
                        <a:srgbClr val="FFFFFF"/>
                      </a:solidFill>
                      <a:latin typeface="+mn-lt"/>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dLbl>
              <c:idx val="1"/>
              <c:layout/>
              <c:numFmt formatCode="0%" sourceLinked="0"/>
              <c:spPr>
                <a:noFill/>
                <a:ln>
                  <a:noFill/>
                </a:ln>
                <a:effectLst/>
              </c:spPr>
              <c:txPr>
                <a:bodyPr rot="0" spcFirstLastPara="0" vertOverflow="ellipsis" vert="horz" wrap="square" lIns="38100" tIns="19050" rIns="38100" bIns="19050" anchor="ctr" anchorCtr="1"/>
                <a:lstStyle/>
                <a:p>
                  <a:pPr>
                    <a:defRPr lang="en-US" sz="1400" b="1" i="0" u="none" strike="noStrike" kern="1200" baseline="0">
                      <a:solidFill>
                        <a:srgbClr val="FFFFFF"/>
                      </a:solidFill>
                      <a:latin typeface="+mn-lt"/>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dLbl>
              <c:idx val="2"/>
              <c:layout/>
              <c:numFmt formatCode="0%" sourceLinked="0"/>
              <c:spPr>
                <a:noFill/>
                <a:ln>
                  <a:noFill/>
                </a:ln>
                <a:effectLst/>
              </c:spPr>
              <c:txPr>
                <a:bodyPr rot="0" spcFirstLastPara="0" vertOverflow="ellipsis" vert="horz" wrap="square" lIns="38100" tIns="19050" rIns="38100" bIns="19050" anchor="ctr" anchorCtr="1"/>
                <a:lstStyle/>
                <a:p>
                  <a:pPr>
                    <a:defRPr lang="en-US" sz="1400" b="1" i="0" u="none" strike="noStrike" kern="1200" baseline="0">
                      <a:solidFill>
                        <a:srgbClr val="FFFFFF"/>
                      </a:solidFill>
                      <a:latin typeface="+mn-lt"/>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rot="0" spcFirstLastPara="0" vertOverflow="ellipsis" vert="horz" wrap="square" lIns="38100" tIns="19050" rIns="38100" bIns="19050" anchor="ctr" anchorCtr="1"/>
              <a:lstStyle/>
              <a:p>
                <a:pPr>
                  <a:defRPr lang="en-US" sz="1800" b="1"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Sheet1!$A$2:$A$4</c:f>
              <c:strCache>
                <c:ptCount val="3"/>
                <c:pt idx="0">
                  <c:v>Alphabet (26)</c:v>
                </c:pt>
                <c:pt idx="1">
                  <c:v>Numerals (9)</c:v>
                </c:pt>
                <c:pt idx="2">
                  <c:v>Conversational (10)</c:v>
                </c:pt>
              </c:strCache>
            </c:strRef>
          </c:cat>
          <c:val>
            <c:numRef>
              <c:f>Sheet1!$B$2:$B$4</c:f>
              <c:numCache>
                <c:formatCode>General</c:formatCode>
                <c:ptCount val="3"/>
                <c:pt idx="0">
                  <c:v>4957</c:v>
                </c:pt>
                <c:pt idx="1">
                  <c:v>1810</c:v>
                </c:pt>
                <c:pt idx="2">
                  <c:v>585</c:v>
                </c:pt>
              </c:numCache>
            </c:numRef>
          </c:val>
        </c:ser>
        <c:dLbls>
          <c:showLegendKey val="0"/>
          <c:showVal val="0"/>
          <c:showCatName val="1"/>
          <c:showSerName val="0"/>
          <c:showPercent val="1"/>
          <c:showBubbleSize val="0"/>
          <c:showLeaderLines val="1"/>
        </c:dLbls>
        <c:firstSliceAng val="0"/>
        <c:holeSize val="55"/>
      </c:doughnutChart>
      <c:spPr>
        <a:noFill/>
        <a:ln>
          <a:noFill/>
        </a:ln>
        <a:effectLst/>
      </c:spPr>
    </c:plotArea>
    <c:legend>
      <c:legendPos val="b"/>
      <c:layout/>
      <c:overlay val="0"/>
      <c:txPr>
        <a:bodyPr rot="0" spcFirstLastPara="0" vertOverflow="ellipsis" vert="horz" wrap="square" anchor="ctr" anchorCtr="1"/>
        <a:lstStyle/>
        <a:p>
          <a:pPr>
            <a:defRPr lang="en-US" sz="1200" b="0" i="0" u="none" strike="noStrike" kern="1200" baseline="0">
              <a:solidFill>
                <a:srgbClr val="334155"/>
              </a:solidFill>
              <a:latin typeface="+mn-lt"/>
              <a:ea typeface="+mn-ea"/>
              <a:cs typeface="+mn-lt"/>
            </a:defRPr>
          </a:pPr>
        </a:p>
      </c:txPr>
    </c:legend>
    <c:plotVisOnly val="1"/>
    <c:dispBlanksAs val="span"/>
    <c:showDLblsOverMax val="0"/>
    <c:extLst>
      <c:ext uri="{0b15fc19-7d7d-44ad-8c2d-2c3a37ce22c3}">
        <chartProps xmlns="https://web.wps.cn/et/2018/main" chartId="{80285134-b4fc-4659-8972-4666aed9db7c}"/>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334155"/>
                </a:solidFill>
                <a:latin typeface="+mn-lt"/>
                <a:ea typeface="+mn-ea"/>
                <a:cs typeface="+mn-cs"/>
              </a:defRPr>
            </a:pPr>
            <a:r>
              <a:rPr sz="1400" b="0" i="0" u="none" strike="noStrike">
                <a:solidFill>
                  <a:srgbClr val="334155"/>
                </a:solidFill>
                <a:latin typeface="+mn-lt"/>
              </a:rPr>
              <a:t>Held-out test metrics (%)</a:t>
            </a:r>
            <a:endParaRPr sz="1400" b="0" i="0" u="none" strike="noStrike">
              <a:solidFill>
                <a:srgbClr val="334155"/>
              </a:solidFill>
              <a:latin typeface="+mn-lt"/>
            </a:endParaRPr>
          </a:p>
        </c:rich>
      </c:tx>
      <c:layout/>
      <c:overlay val="0"/>
    </c:title>
    <c:autoTitleDeleted val="0"/>
    <c:plotArea>
      <c:layout/>
      <c:barChart>
        <c:barDir val="col"/>
        <c:grouping val="clustered"/>
        <c:varyColors val="0"/>
        <c:ser>
          <c:idx val="0"/>
          <c:order val="0"/>
          <c:tx>
            <c:strRef>
              <c:f>Sheet1!$B$1</c:f>
              <c:strCache>
                <c:ptCount val="1"/>
                <c:pt idx="0">
                  <c:v>Random Forest</c:v>
                </c:pt>
              </c:strCache>
            </c:strRef>
          </c:tx>
          <c:spPr>
            <a:solidFill>
              <a:srgbClr val="10B981"/>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F17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Accuracy</c:v>
                </c:pt>
                <c:pt idx="1">
                  <c:v>Precision</c:v>
                </c:pt>
                <c:pt idx="2">
                  <c:v>Recall</c:v>
                </c:pt>
                <c:pt idx="3">
                  <c:v>F1</c:v>
                </c:pt>
              </c:strCache>
            </c:strRef>
          </c:cat>
          <c:val>
            <c:numRef>
              <c:f>Sheet1!$B$2:$B$5</c:f>
              <c:numCache>
                <c:formatCode>General</c:formatCode>
                <c:ptCount val="4"/>
                <c:pt idx="0">
                  <c:v>85.2</c:v>
                </c:pt>
                <c:pt idx="1">
                  <c:v>85.4</c:v>
                </c:pt>
                <c:pt idx="2">
                  <c:v>84.6</c:v>
                </c:pt>
                <c:pt idx="3">
                  <c:v>84.8</c:v>
                </c:pt>
              </c:numCache>
            </c:numRef>
          </c:val>
        </c:ser>
        <c:ser>
          <c:idx val="1"/>
          <c:order val="1"/>
          <c:tx>
            <c:strRef>
              <c:f>Sheet1!$C$1</c:f>
              <c:strCache>
                <c:ptCount val="1"/>
                <c:pt idx="0">
                  <c:v>MLP baseline</c:v>
                </c:pt>
              </c:strCache>
            </c:strRef>
          </c:tx>
          <c:spPr>
            <a:solidFill>
              <a:srgbClr val="94A3B8"/>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F17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Accuracy</c:v>
                </c:pt>
                <c:pt idx="1">
                  <c:v>Precision</c:v>
                </c:pt>
                <c:pt idx="2">
                  <c:v>Recall</c:v>
                </c:pt>
                <c:pt idx="3">
                  <c:v>F1</c:v>
                </c:pt>
              </c:strCache>
            </c:strRef>
          </c:cat>
          <c:val>
            <c:numRef>
              <c:f>Sheet1!$C$2:$C$5</c:f>
              <c:numCache>
                <c:formatCode>General</c:formatCode>
                <c:ptCount val="4"/>
                <c:pt idx="0">
                  <c:v>81.6</c:v>
                </c:pt>
                <c:pt idx="1">
                  <c:v>82.1</c:v>
                </c:pt>
                <c:pt idx="2">
                  <c:v>81</c:v>
                </c:pt>
                <c:pt idx="3">
                  <c:v>81.5</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334155"/>
                </a:solidFill>
                <a:latin typeface="+mn-lt"/>
                <a:ea typeface="+mn-ea"/>
                <a:cs typeface="+mn-cs"/>
              </a:defRPr>
            </a:pPr>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mn-lt"/>
                <a:ea typeface="+mn-ea"/>
                <a:cs typeface="+mn-cs"/>
              </a:defRPr>
            </a:pPr>
          </a:p>
        </c:txPr>
        <c:crossAx val="2094734554"/>
        <c:crosses val="autoZero"/>
        <c:crossBetween val="between"/>
        <c:majorUnit val="25"/>
      </c:valAx>
      <c:spPr>
        <a:noFill/>
        <a:ln>
          <a:noFill/>
        </a:ln>
        <a:effectLst/>
      </c:spPr>
    </c:plotArea>
    <c:legend>
      <c:legendPos val="b"/>
      <c:layout/>
      <c:overlay val="0"/>
      <c:txPr>
        <a:bodyPr rot="0" spcFirstLastPara="0" vertOverflow="ellipsis" vert="horz" wrap="square" anchor="ctr" anchorCtr="1"/>
        <a:lstStyle/>
        <a:p>
          <a:pPr>
            <a:defRPr lang="en-US" sz="1200" b="0" i="0" u="none" strike="noStrike" kern="1200" baseline="0">
              <a:solidFill>
                <a:srgbClr val="334155"/>
              </a:solidFill>
              <a:latin typeface="+mn-lt"/>
              <a:ea typeface="+mn-ea"/>
              <a:cs typeface="+mn-lt"/>
            </a:defRPr>
          </a:pPr>
        </a:p>
      </c:txPr>
    </c:legend>
    <c:plotVisOnly val="1"/>
    <c:dispBlanksAs val="span"/>
    <c:showDLblsOverMax val="0"/>
    <c:extLst>
      <c:ext uri="{0b15fc19-7d7d-44ad-8c2d-2c3a37ce22c3}">
        <chartProps xmlns="https://web.wps.cn/et/2018/main" chartId="{1eb3e7c6-9557-4e9e-b47e-3fa8a47cfbc1}"/>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334155"/>
                </a:solidFill>
                <a:latin typeface="+mn-lt"/>
                <a:ea typeface="+mn-ea"/>
                <a:cs typeface="+mn-cs"/>
              </a:defRPr>
            </a:pPr>
            <a:r>
              <a:rPr sz="1400" b="0" i="0" u="none" strike="noStrike">
                <a:solidFill>
                  <a:srgbClr val="334155"/>
                </a:solidFill>
                <a:latin typeface="+mn-lt"/>
              </a:rPr>
              <a:t>Mean latency per stage (ms)</a:t>
            </a:r>
            <a:endParaRPr sz="1400" b="0" i="0" u="none" strike="noStrike">
              <a:solidFill>
                <a:srgbClr val="334155"/>
              </a:solidFill>
              <a:latin typeface="+mn-lt"/>
            </a:endParaRPr>
          </a:p>
        </c:rich>
      </c:tx>
      <c:layout/>
      <c:overlay val="0"/>
    </c:title>
    <c:autoTitleDeleted val="0"/>
    <c:plotArea>
      <c:layout/>
      <c:barChart>
        <c:barDir val="bar"/>
        <c:grouping val="clustered"/>
        <c:varyColors val="0"/>
        <c:ser>
          <c:idx val="0"/>
          <c:order val="0"/>
          <c:tx>
            <c:strRef>
              <c:f>Sheet1!$B$1</c:f>
              <c:strCache>
                <c:ptCount val="1"/>
                <c:pt idx="0">
                  <c:v>Mean latency (ms)</c:v>
                </c:pt>
              </c:strCache>
            </c:strRef>
          </c:tx>
          <c:spPr>
            <a:solidFill>
              <a:srgbClr val="94A3B8"/>
            </a:solidFill>
            <a:effectLst/>
          </c:spPr>
          <c:invertIfNegative val="0"/>
          <c:dPt>
            <c:idx val="0"/>
            <c:invertIfNegative val="0"/>
            <c:bubble3D val="0"/>
            <c:spPr>
              <a:solidFill>
                <a:srgbClr val="94A3B8"/>
              </a:solidFill>
              <a:effectLst/>
            </c:spPr>
          </c:dPt>
          <c:dPt>
            <c:idx val="1"/>
            <c:invertIfNegative val="0"/>
            <c:bubble3D val="0"/>
            <c:spPr>
              <a:solidFill>
                <a:srgbClr val="10B981"/>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F17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Frame capture</c:v>
                </c:pt>
                <c:pt idx="1">
                  <c:v>MediaPipe landmarks</c:v>
                </c:pt>
                <c:pt idx="2">
                  <c:v>Feature extraction</c:v>
                </c:pt>
                <c:pt idx="3">
                  <c:v>Random Forest</c:v>
                </c:pt>
                <c:pt idx="4">
                  <c:v>Hysteresis update</c:v>
                </c:pt>
                <c:pt idx="5">
                  <c:v>Canvas rendering</c:v>
                </c:pt>
              </c:strCache>
            </c:strRef>
          </c:cat>
          <c:val>
            <c:numRef>
              <c:f>Sheet1!$B$2:$B$7</c:f>
              <c:numCache>
                <c:formatCode>General</c:formatCode>
                <c:ptCount val="6"/>
                <c:pt idx="0">
                  <c:v>6.8</c:v>
                </c:pt>
                <c:pt idx="1">
                  <c:v>12.4</c:v>
                </c:pt>
                <c:pt idx="2">
                  <c:v>0.8</c:v>
                </c:pt>
                <c:pt idx="3">
                  <c:v>1.2</c:v>
                </c:pt>
                <c:pt idx="4">
                  <c:v>0.5</c:v>
                </c:pt>
                <c:pt idx="5">
                  <c:v>5.5</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334155"/>
                </a:solidFill>
                <a:latin typeface="+mn-lt"/>
                <a:ea typeface="+mn-ea"/>
                <a:cs typeface="+mn-cs"/>
              </a:defRPr>
            </a:pPr>
          </a:p>
        </c:txPr>
        <c:crossAx val="2094734552"/>
        <c:crosses val="autoZero"/>
        <c:auto val="1"/>
        <c:lblAlgn val="ctr"/>
        <c:lblOffset val="100"/>
        <c:noMultiLvlLbl val="1"/>
      </c:catAx>
      <c:valAx>
        <c:axId val="2094734552"/>
        <c:scaling>
          <c:orientation val="minMax"/>
          <c:max val="15"/>
          <c:min val="0"/>
        </c:scaling>
        <c:delete val="0"/>
        <c:axPos val="t"/>
        <c:majorGridlines>
          <c:spPr>
            <a:ln w="9525" cap="flat" cmpd="sng" algn="ctr">
              <a:solidFill>
                <a:srgbClr val="E2E8F0"/>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mn-lt"/>
                <a:ea typeface="+mn-ea"/>
                <a:cs typeface="+mn-cs"/>
              </a:defRPr>
            </a:pPr>
          </a:p>
        </c:txPr>
        <c:crossAx val="2094734554"/>
        <c:crosses val="autoZero"/>
        <c:crossBetween val="between"/>
        <c:majorUnit val="5"/>
      </c:valAx>
      <c:spPr>
        <a:noFill/>
        <a:ln>
          <a:noFill/>
        </a:ln>
        <a:effectLst/>
      </c:spPr>
    </c:plotArea>
    <c:plotVisOnly val="1"/>
    <c:dispBlanksAs val="span"/>
    <c:showDLblsOverMax val="0"/>
    <c:extLst>
      <c:ext uri="{0b15fc19-7d7d-44ad-8c2d-2c3a37ce22c3}">
        <chartProps xmlns="https://web.wps.cn/et/2018/main" chartId="{50cc1f45-4eea-4a08-8616-07d4393ec73a}"/>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browser-based system that recognizes Indian Sign Language from a webcam and also translates speech, text and YouTube videos back into sign. Mention supervisor and co-author.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million people in India live with hearing and speech impairments. ISL is a full language, and more than 76% of ISL alphabet gestures need both hands, which is why systems built for single-handed ASL do not transfer. The thesis cites an acute shortage of certified interpreters; the exact ratio differs between the abstract and the introduction, so quote the shortage qualitatively.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given a frame sequence X, choose the sign class c that maximizes P(c given X). Three constraints shape the design: under 50 ms per frame, a plain webcam, and both directions of translation. The five challenges on the right drive the feature design, the hysteresis state machine and the reverse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of 18 papers. Era 1: handcrafted features and skin segmentation (Ekbote 97.10% with SVM, but under 70% in cluttered scenes). Era 2: CNNs on raw frames (Vashisth 92.83%). Era 3: MediaPipe landmarks with Random Forest (Singhal 99.95% on 35 classes). Era 4: Transformers and multimodal translation (Khakha 97.40%). Gaps: most work is unidirectional, single-hand biased, and not deployed as a usable web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a real-time landmark pipeline, an invariant 156-dimensional feature vector, a benchmark of Random Forest against an MLP on 45 classes, a hysteresis state machine, reverse translation from text, voice and YouTube, and a sign dictionary with a practice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pathway: webcam, MediaPipe Hands, 156-D features, Random Forest or MLP, temporal hysteresis, then text buffer and text-to-speech. Reverse pathway: speech, text or YouTube audio, recognition or Deepgram Nova-2, phrase matching, then the 204-entry sign video playback with fingerspelling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hand gives 21 landmarks. Coordinates are centered on the wrist for translation invariance and divided by the maximum wrist distance for scale invariance, giving 63 values. Twelve geometric features are added: five fingertip radii, four thumb-to-fingertip distances and three adjacent finger spreads. That is 75 per hand. Two hands give 150, plus 6 inter-hand features (two presence flags, a 3D wrist offset and the wrist distance) for 156. A missing hand is zero-padded.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Forest averages the class probabilities of 100 trees and runs in about 1.2 ms on a CPU. The MLP baseline is 156 to 128 to 64 to 45 with batch norm, dropout 0.2, Adam at 1e-3 for 50 epochs. Random Forest scored higher on every held-out metric and is faster, so it is the deployed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Per-frame predictions jitter while a hand moves between signs. A gesture is committed only if its probability stays at or above 0.85 for a continuous 1.5 seconds; a 0.5 second lockout then prevents duplicates. Word error rate drops from 64.2% with no hold to 3.8% at 1.5 s. Going to 2.5 s only gains 0.6 points but nearly halves typing speed (16 to 9 characters per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entry points feed one dictionary of 204 signs backed by 203 demonstration videos. Words not in the dictionary fall back to fingerspelling cards. For YouTube, yt-dlp pulls the audio, Deepgram Nova-2 returns word-level timestamps, and matched sign clips play in sync. Speed control runs from 0.5x to 2.0x.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single-page app on a lightweight Flask backend. Seven modules cover sign-to-text, text-to-sign, voice-to-sign, YouTube-to-sign, dataset collection with one-click retraining, the dictionary with a practice challenger, and a gallery of 189 research figures. Capture, inference and HTTP serving run on separate threads so video stays smooth. Privacy: no video is recorded; datasets store only the 156 numeric landmark features, and API keys stay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Stratified dataset: 26 alphabet classes (4,957 samples), 9 numeral classes (1,810) and 10 conversational or control classes (585), for 7,352 samples. 80/20 stratified split: 5,881 train and 1,471 test. Conversational classes have far fewer samples, which is worth mentioning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of the sign classes. A, B, D and H need both hands, with fingertip or palm contact between them; C, I, L, O and V are one-handed. F1 scores are from the held-out test set (Table 5.2). L is the best class at 94.6; D, with crossed index fingers, is among the weakest at 82.8.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test set Random Forest reaches 85.2% accuracy and 84.8% macro F1, ahead of the MLP at 81.6% and 81.5%. Training accuracy is 99.4% for Random Forest, so there is a clear generalization gap; expect a panel question on this. Best class: L (F1 94.6). Weakest: Thank You (82.1), Hello (82.7) and D (82.8), consistent with contact-heavy or dynamic signs being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latency over 1,000 continuous frames: capture 6.8 ms, MediaPipe 12.4 ms, features 0.8 ms, Random Forest 1.2 ms, hysteresis 0.5 ms, rendering 5.5 ms; total 27.2 ms, which is 1000/27.2, about 36.8 FPS. MediaPipe is the dominant cost at roughly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systems score higher, but on much smaller vocabularies (23 to 36 classes) and mostly single-purpose pipelines. This system covers 45 classes including two-handed signs, digits and conversational phrases, and adds the reverse translation pathway and a deployed web platform. Be upfront that 85.2% is lower than the best reported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a real-time browser ISL system with 85.2% accuracy over 45 classes, 1.2 ms classifier inference, 27.2 ms pipeline latency, hysteresis that cuts word error from 64.2% to 3.8%, and a reverse pathway with a 204-sign dictionary. Future work: continuous signing, facial and body cues, in-browser inference, and user studies with fluent deaf signers.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Likely topics: the train/test accuracy gap, why Random Forest over deep models, vocabulary size versus published results, and plans for continuous 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1005840"/>
            <a:ext cx="8046720" cy="1325880"/>
          </a:xfrm>
          <a:prstGeom prst="rect">
            <a:avLst/>
          </a:prstGeom>
          <a:noFill/>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ph type="body" idx="101" hasCustomPrompt="1"/>
          </p:nvPr>
        </p:nvSpPr>
        <p:spPr>
          <a:xfrm>
            <a:off x="548640" y="2560320"/>
            <a:ext cx="4114800" cy="640080"/>
          </a:xfrm>
          <a:prstGeom prst="rect">
            <a:avLst/>
          </a:prstGeom>
          <a:noFill/>
        </p:spPr>
        <p:txBody>
          <a:bodyPr wrap="square" rtlCol="0"/>
          <a:lstStyle>
            <a:lvl1pPr marL="0" indent="0" algn="l">
              <a:buNone/>
              <a:defRPr lang="en-US" sz="1600" dirty="0">
                <a:solidFill>
                  <a:schemeClr val="accent2"/>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4818888"/>
            <a:ext cx="5486400" cy="228600"/>
          </a:xfrm>
          <a:prstGeom prst="rect">
            <a:avLst/>
          </a:prstGeom>
          <a:noFill/>
        </p:spPr>
        <p:txBody>
          <a:bodyPr wrap="square" lIns="0" tIns="0" rIns="0" bIns="0" rtlCol="0" anchor="ctr"/>
          <a:lstStyle/>
          <a:p>
            <a:pPr marL="0" indent="0">
              <a:buNone/>
            </a:pPr>
            <a:r>
              <a:rPr lang="en-US" sz="1000" dirty="0">
                <a:solidFill>
                  <a:schemeClr val="accent6"/>
                </a:solidFill>
              </a:rPr>
              <a:t>ISL Vision  |  B.Tech thesis  |  IIIT Allahabad</a:t>
            </a:r>
            <a:endParaRPr lang="en-US" sz="1000" dirty="0"/>
          </a:p>
        </p:txBody>
      </p:sp>
      <p:sp>
        <p:nvSpPr>
          <p:cNvPr id="3" name="Text 1"/>
          <p:cNvSpPr/>
          <p:nvPr>
            <p:ph type="title" idx="101" hasCustomPrompt="1"/>
          </p:nvPr>
        </p:nvSpPr>
        <p:spPr>
          <a:xfrm>
            <a:off x="457200" y="274320"/>
            <a:ext cx="8229600" cy="731520"/>
          </a:xfrm>
          <a:prstGeom prst="rect">
            <a:avLst/>
          </a:prstGeom>
          <a:noFill/>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274320"/>
            <a:ext cx="8046720" cy="731520"/>
          </a:xfrm>
          <a:prstGeom prst="rect">
            <a:avLst/>
          </a:prstGeom>
          <a:noFill/>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2"/>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3.xml"/><Relationship Id="rId7" Type="http://schemas.openxmlformats.org/officeDocument/2006/relationships/image" Target="../media/image21.png"/><Relationship Id="rId6" Type="http://schemas.openxmlformats.org/officeDocument/2006/relationships/image" Target="../media/image13.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chart" Target="../charts/chart2.xml"/></Relationships>
</file>

<file path=ppt/slides/_rels/slide13.xml.rels><?xml version="1.0" encoding="UTF-8" standalone="yes"?>
<Relationships xmlns="http://schemas.openxmlformats.org/package/2006/relationships"><Relationship Id="rId9" Type="http://schemas.openxmlformats.org/officeDocument/2006/relationships/image" Target="../media/image30.jpeg"/><Relationship Id="rId8" Type="http://schemas.openxmlformats.org/officeDocument/2006/relationships/image" Target="../media/image29.jpeg"/><Relationship Id="rId7" Type="http://schemas.openxmlformats.org/officeDocument/2006/relationships/image" Target="../media/image28.jpeg"/><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 Id="rId3" Type="http://schemas.openxmlformats.org/officeDocument/2006/relationships/image" Target="../media/image24.jpeg"/><Relationship Id="rId2" Type="http://schemas.openxmlformats.org/officeDocument/2006/relationships/image" Target="../media/image23.jpeg"/><Relationship Id="rId11" Type="http://schemas.openxmlformats.org/officeDocument/2006/relationships/notesSlide" Target="../notesSlides/notesSlide13.xml"/><Relationship Id="rId10" Type="http://schemas.openxmlformats.org/officeDocument/2006/relationships/slideLayout" Target="../slideLayouts/slideLayout3.xml"/><Relationship Id="rId1" Type="http://schemas.openxmlformats.org/officeDocument/2006/relationships/image" Target="../media/image2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chart" Target="../charts/char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image" Target="../media/image32.png"/><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1005840"/>
            <a:ext cx="8046720" cy="1325880"/>
          </a:xfrm>
          <a:prstGeom prst="rect">
            <a:avLst/>
          </a:prstGeom>
          <a:noFill/>
        </p:spPr>
        <p:txBody>
          <a:bodyPr wrap="square" lIns="0" tIns="0" rIns="0" bIns="0" rtlCol="0" anchor="t"/>
          <a:lstStyle/>
          <a:p>
            <a:pPr marL="0" indent="0" algn="l">
              <a:buNone/>
            </a:pPr>
            <a:r>
              <a:rPr lang="en-US" sz="3200" b="1" dirty="0">
                <a:solidFill>
                  <a:schemeClr val="bg1"/>
                </a:solidFill>
              </a:rPr>
              <a:t>Real-Time Indian Sign Language Recognition and Bidirectional Translation System</a:t>
            </a:r>
            <a:endParaRPr lang="en-US" sz="3200" dirty="0"/>
          </a:p>
        </p:txBody>
      </p:sp>
      <p:sp>
        <p:nvSpPr>
          <p:cNvPr id="3" name="Text 0"/>
          <p:cNvSpPr/>
          <p:nvPr>
            <p:ph type="body" idx="101" hasCustomPrompt="1"/>
          </p:nvPr>
        </p:nvSpPr>
        <p:spPr>
          <a:xfrm>
            <a:off x="548640" y="2651760"/>
            <a:ext cx="4114800" cy="640080"/>
          </a:xfrm>
          <a:prstGeom prst="rect">
            <a:avLst/>
          </a:prstGeom>
          <a:noFill/>
        </p:spPr>
        <p:txBody>
          <a:bodyPr wrap="square" lIns="0" tIns="0" rIns="0" bIns="0" rtlCol="0" anchor="t"/>
          <a:lstStyle/>
          <a:p>
            <a:pPr marL="0" indent="0" algn="l">
              <a:buNone/>
            </a:pPr>
            <a:r>
              <a:rPr lang="en-US" sz="1600" dirty="0">
                <a:solidFill>
                  <a:schemeClr val="accent2"/>
                </a:solidFill>
              </a:rPr>
              <a:t>B.Tech, Department of Information Technology</a:t>
            </a:r>
            <a:endParaRPr lang="en-US" sz="1600" dirty="0"/>
          </a:p>
        </p:txBody>
      </p:sp>
      <p:sp>
        <p:nvSpPr>
          <p:cNvPr id="4" name="Authors"/>
          <p:cNvSpPr txBox="1"/>
          <p:nvPr/>
        </p:nvSpPr>
        <p:spPr>
          <a:xfrm>
            <a:off x="548640" y="3337560"/>
            <a:ext cx="4114800" cy="1280160"/>
          </a:xfrm>
          <a:prstGeom prst="rect">
            <a:avLst/>
          </a:prstGeom>
          <a:noFill/>
        </p:spPr>
        <p:txBody>
          <a:bodyPr wrap="square" lIns="0" tIns="0" rIns="0" bIns="0" rtlCol="0" anchor="t"/>
          <a:lstStyle/>
          <a:p>
            <a:pPr marL="0" indent="0">
              <a:spcAft>
                <a:spcPts val="400"/>
              </a:spcAft>
              <a:buNone/>
            </a:pPr>
            <a:r>
              <a:rPr lang="en-US" sz="1600" dirty="0">
                <a:solidFill>
                  <a:schemeClr val="bg1"/>
                </a:solidFill>
              </a:rPr>
              <a:t>Rohit Kumar Gupta (IIT2023185)</a:t>
            </a:r>
            <a:endParaRPr lang="en-US" sz="1600" dirty="0"/>
          </a:p>
          <a:p>
            <a:pPr marL="0" indent="0">
              <a:spcAft>
                <a:spcPts val="400"/>
              </a:spcAft>
              <a:buNone/>
            </a:pPr>
            <a:r>
              <a:rPr lang="en-US" sz="1600" dirty="0">
                <a:solidFill>
                  <a:schemeClr val="bg1"/>
                </a:solidFill>
              </a:rPr>
              <a:t>Krishna Singh (IIT2023145)</a:t>
            </a:r>
            <a:endParaRPr lang="en-US" sz="1600" dirty="0"/>
          </a:p>
          <a:p>
            <a:pPr marL="0" indent="0">
              <a:spcAft>
                <a:spcPts val="400"/>
              </a:spcAft>
              <a:buNone/>
            </a:pPr>
            <a:r>
              <a:rPr lang="en-US" sz="1600" dirty="0">
                <a:solidFill>
                  <a:schemeClr val="accent2"/>
                </a:solidFill>
              </a:rPr>
              <a:t>Supervisor: Prof. Satish Kumar Singh</a:t>
            </a:r>
            <a:endParaRPr lang="en-US" sz="1600" dirty="0"/>
          </a:p>
          <a:p>
            <a:pPr marL="0" indent="0">
              <a:spcAft>
                <a:spcPts val="400"/>
              </a:spcAft>
              <a:buNone/>
            </a:pPr>
            <a:r>
              <a:rPr lang="en-US" sz="1600" dirty="0">
                <a:solidFill>
                  <a:schemeClr val="bg1"/>
                </a:solidFill>
              </a:rPr>
              <a:t>IIIT Allahabad, November 2026</a:t>
            </a:r>
            <a:endParaRPr lang="en-US" sz="1600" dirty="0"/>
          </a:p>
        </p:txBody>
      </p:sp>
      <p:pic>
        <p:nvPicPr>
          <p:cNvPr id="5" name="Skeletal visualizer" descr="Neon skeletal visualizer showing two hands with a bimanual touch arc"/>
          <p:cNvPicPr>
            <a:picLocks noChangeAspect="1"/>
          </p:cNvPicPr>
          <p:nvPr/>
        </p:nvPicPr>
        <p:blipFill>
          <a:blip r:embed="rId1"/>
          <a:stretch>
            <a:fillRect/>
          </a:stretch>
        </p:blipFill>
        <p:spPr>
          <a:xfrm>
            <a:off x="4937760" y="2651760"/>
            <a:ext cx="3657600" cy="2039112"/>
          </a:xfrm>
          <a:prstGeom prst="rect">
            <a:avLst/>
          </a:prstGeom>
        </p:spPr>
      </p:pic>
      <p:sp>
        <p:nvSpPr>
          <p:cNvPr id="9" name="Logo card"/>
          <p:cNvSpPr/>
          <p:nvPr/>
        </p:nvSpPr>
        <p:spPr>
          <a:xfrm>
            <a:off x="7581265" y="274320"/>
            <a:ext cx="894715" cy="886460"/>
          </a:xfrm>
          <a:prstGeom prst="roundRect">
            <a:avLst>
              <a:gd name="adj" fmla="val 11429"/>
            </a:avLst>
          </a:prstGeom>
          <a:solidFill>
            <a:schemeClr val="bg1"/>
          </a:solidFill>
        </p:spPr>
      </p:sp>
      <p:pic>
        <p:nvPicPr>
          <p:cNvPr id="10" name="IIITA logo" descr="IIIT Allahabad logo"/>
          <p:cNvPicPr>
            <a:picLocks noChangeAspect="1"/>
          </p:cNvPicPr>
          <p:nvPr/>
        </p:nvPicPr>
        <p:blipFill>
          <a:blip r:embed="rId2"/>
          <a:stretch>
            <a:fillRect/>
          </a:stretch>
        </p:blipFill>
        <p:spPr>
          <a:xfrm>
            <a:off x="7630795" y="320040"/>
            <a:ext cx="796290" cy="7962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Why ISL needs a technology bridge</a:t>
            </a:r>
            <a:endParaRPr lang="en-US" sz="3000" dirty="0"/>
          </a:p>
        </p:txBody>
      </p:sp>
      <p:sp>
        <p:nvSpPr>
          <p:cNvPr id="4" name="Stat card 1"/>
          <p:cNvSpPr/>
          <p:nvPr/>
        </p:nvSpPr>
        <p:spPr>
          <a:xfrm>
            <a:off x="457200" y="1188720"/>
            <a:ext cx="2651760" cy="1554480"/>
          </a:xfrm>
          <a:prstGeom prst="roundRect">
            <a:avLst>
              <a:gd name="adj" fmla="val 4706"/>
            </a:avLst>
          </a:prstGeom>
          <a:solidFill>
            <a:schemeClr val="bg2"/>
          </a:solidFill>
        </p:spPr>
      </p:sp>
      <p:sp>
        <p:nvSpPr>
          <p:cNvPr id="5" name="Text 2"/>
          <p:cNvSpPr txBox="1"/>
          <p:nvPr/>
        </p:nvSpPr>
        <p:spPr>
          <a:xfrm>
            <a:off x="640080" y="1280160"/>
            <a:ext cx="2286000" cy="731520"/>
          </a:xfrm>
          <a:prstGeom prst="rect">
            <a:avLst/>
          </a:prstGeom>
          <a:noFill/>
        </p:spPr>
        <p:txBody>
          <a:bodyPr wrap="square" lIns="0" tIns="0" rIns="0" bIns="0" rtlCol="0" anchor="ctr"/>
          <a:lstStyle/>
          <a:p>
            <a:pPr marL="0" indent="0">
              <a:buNone/>
            </a:pPr>
            <a:r>
              <a:rPr lang="en-US" sz="4800" b="1" dirty="0">
                <a:solidFill>
                  <a:schemeClr val="tx2"/>
                </a:solidFill>
              </a:rPr>
              <a:t>18M+</a:t>
            </a:r>
            <a:endParaRPr lang="en-US" sz="4800" dirty="0"/>
          </a:p>
        </p:txBody>
      </p:sp>
      <p:sp>
        <p:nvSpPr>
          <p:cNvPr id="6" name="Text 3"/>
          <p:cNvSpPr txBox="1"/>
          <p:nvPr/>
        </p:nvSpPr>
        <p:spPr>
          <a:xfrm>
            <a:off x="640080" y="2011680"/>
            <a:ext cx="2286000" cy="640080"/>
          </a:xfrm>
          <a:prstGeom prst="rect">
            <a:avLst/>
          </a:prstGeom>
          <a:noFill/>
        </p:spPr>
        <p:txBody>
          <a:bodyPr wrap="square" lIns="0" tIns="0" rIns="0" bIns="0" rtlCol="0" anchor="t"/>
          <a:lstStyle/>
          <a:p>
            <a:pPr marL="0" indent="0">
              <a:buNone/>
            </a:pPr>
            <a:r>
              <a:rPr lang="en-US" sz="1400" dirty="0">
                <a:solidFill>
                  <a:schemeClr val="tx1"/>
                </a:solidFill>
              </a:rPr>
              <a:t>people in India live with hearing and speech impairments</a:t>
            </a:r>
            <a:endParaRPr lang="en-US" sz="1400" dirty="0"/>
          </a:p>
        </p:txBody>
      </p:sp>
      <p:sp>
        <p:nvSpPr>
          <p:cNvPr id="7" name="Stat card 2"/>
          <p:cNvSpPr/>
          <p:nvPr/>
        </p:nvSpPr>
        <p:spPr>
          <a:xfrm>
            <a:off x="457200" y="2926080"/>
            <a:ext cx="2651760" cy="1554480"/>
          </a:xfrm>
          <a:prstGeom prst="roundRect">
            <a:avLst>
              <a:gd name="adj" fmla="val 4706"/>
            </a:avLst>
          </a:prstGeom>
          <a:solidFill>
            <a:schemeClr val="bg2"/>
          </a:solidFill>
        </p:spPr>
      </p:sp>
      <p:sp>
        <p:nvSpPr>
          <p:cNvPr id="8" name="Text 5"/>
          <p:cNvSpPr txBox="1"/>
          <p:nvPr/>
        </p:nvSpPr>
        <p:spPr>
          <a:xfrm>
            <a:off x="640080" y="3017520"/>
            <a:ext cx="2286000" cy="731520"/>
          </a:xfrm>
          <a:prstGeom prst="rect">
            <a:avLst/>
          </a:prstGeom>
          <a:noFill/>
        </p:spPr>
        <p:txBody>
          <a:bodyPr wrap="square" lIns="0" tIns="0" rIns="0" bIns="0" rtlCol="0" anchor="ctr"/>
          <a:lstStyle/>
          <a:p>
            <a:pPr marL="0" indent="0">
              <a:buNone/>
            </a:pPr>
            <a:r>
              <a:rPr lang="en-US" sz="4800" b="1" dirty="0">
                <a:solidFill>
                  <a:schemeClr val="tx2"/>
                </a:solidFill>
              </a:rPr>
              <a:t>76%+</a:t>
            </a:r>
            <a:endParaRPr lang="en-US" sz="4800" dirty="0"/>
          </a:p>
        </p:txBody>
      </p:sp>
      <p:sp>
        <p:nvSpPr>
          <p:cNvPr id="9" name="Text 6"/>
          <p:cNvSpPr txBox="1"/>
          <p:nvPr/>
        </p:nvSpPr>
        <p:spPr>
          <a:xfrm>
            <a:off x="640080" y="3749040"/>
            <a:ext cx="2286000" cy="640080"/>
          </a:xfrm>
          <a:prstGeom prst="rect">
            <a:avLst/>
          </a:prstGeom>
          <a:noFill/>
        </p:spPr>
        <p:txBody>
          <a:bodyPr wrap="square" lIns="0" tIns="0" rIns="0" bIns="0" rtlCol="0" anchor="t"/>
          <a:lstStyle/>
          <a:p>
            <a:pPr marL="0" indent="0">
              <a:buNone/>
            </a:pPr>
            <a:r>
              <a:rPr lang="en-US" sz="1400" dirty="0">
                <a:solidFill>
                  <a:schemeClr val="tx1"/>
                </a:solidFill>
              </a:rPr>
              <a:t>of ISL alphabet gestures need both hands</a:t>
            </a:r>
            <a:endParaRPr lang="en-US" sz="1400" dirty="0"/>
          </a:p>
        </p:txBody>
      </p:sp>
      <p:sp>
        <p:nvSpPr>
          <p:cNvPr id="10" name="Barrier card 1"/>
          <p:cNvSpPr/>
          <p:nvPr/>
        </p:nvSpPr>
        <p:spPr>
          <a:xfrm>
            <a:off x="3383280" y="1188720"/>
            <a:ext cx="5303520" cy="1005840"/>
          </a:xfrm>
          <a:prstGeom prst="roundRect">
            <a:avLst>
              <a:gd name="adj" fmla="val 7273"/>
            </a:avLst>
          </a:prstGeom>
          <a:solidFill>
            <a:schemeClr val="bg2"/>
          </a:solidFill>
        </p:spPr>
      </p:sp>
      <p:sp>
        <p:nvSpPr>
          <p:cNvPr id="11" name="Barrier icon 1 circle"/>
          <p:cNvSpPr/>
          <p:nvPr/>
        </p:nvSpPr>
        <p:spPr>
          <a:xfrm>
            <a:off x="3566160" y="1417320"/>
            <a:ext cx="548640" cy="548640"/>
          </a:xfrm>
          <a:prstGeom prst="ellipse">
            <a:avLst/>
          </a:prstGeom>
          <a:solidFill>
            <a:schemeClr val="accent1"/>
          </a:solidFill>
        </p:spPr>
      </p:sp>
      <p:pic>
        <p:nvPicPr>
          <p:cNvPr id="12" name="Barrier icon 1" descr="Barrier icon 1"/>
          <p:cNvPicPr>
            <a:picLocks noChangeAspect="1"/>
          </p:cNvPicPr>
          <p:nvPr/>
        </p:nvPicPr>
        <p:blipFill>
          <a:blip r:embed="rId1"/>
          <a:stretch>
            <a:fillRect/>
          </a:stretch>
        </p:blipFill>
        <p:spPr>
          <a:xfrm>
            <a:off x="3697834" y="1548994"/>
            <a:ext cx="285293" cy="285293"/>
          </a:xfrm>
          <a:prstGeom prst="rect">
            <a:avLst/>
          </a:prstGeom>
        </p:spPr>
      </p:pic>
      <p:sp>
        <p:nvSpPr>
          <p:cNvPr id="13" name="Text 9"/>
          <p:cNvSpPr txBox="1"/>
          <p:nvPr/>
        </p:nvSpPr>
        <p:spPr>
          <a:xfrm>
            <a:off x="4297680" y="1298448"/>
            <a:ext cx="4206240" cy="822960"/>
          </a:xfrm>
          <a:prstGeom prst="rect">
            <a:avLst/>
          </a:prstGeom>
          <a:noFill/>
        </p:spPr>
        <p:txBody>
          <a:bodyPr wrap="square" lIns="0" tIns="0" rIns="0" bIns="0" rtlCol="0" anchor="ctr"/>
          <a:lstStyle/>
          <a:p>
            <a:pPr marL="0" indent="0">
              <a:buNone/>
            </a:pPr>
            <a:r>
              <a:rPr lang="en-US" sz="1600" b="1" dirty="0">
                <a:solidFill>
                  <a:schemeClr val="tx1"/>
                </a:solidFill>
              </a:rPr>
              <a:t>Hearing people rarely know ISL</a:t>
            </a:r>
            <a:endParaRPr lang="en-US" sz="1600" dirty="0"/>
          </a:p>
          <a:p>
            <a:pPr marL="0" indent="0">
              <a:buNone/>
            </a:pPr>
            <a:r>
              <a:rPr lang="en-US" sz="1400" dirty="0">
                <a:solidFill>
                  <a:schemeClr val="tx1"/>
                </a:solidFill>
              </a:rPr>
              <a:t>Hospitals, banks, government desks and classrooms become barriers</a:t>
            </a:r>
            <a:endParaRPr lang="en-US" sz="1600" dirty="0"/>
          </a:p>
        </p:txBody>
      </p:sp>
      <p:sp>
        <p:nvSpPr>
          <p:cNvPr id="14" name="Barrier card 2"/>
          <p:cNvSpPr/>
          <p:nvPr/>
        </p:nvSpPr>
        <p:spPr>
          <a:xfrm>
            <a:off x="3383280" y="2331720"/>
            <a:ext cx="5303520" cy="1005840"/>
          </a:xfrm>
          <a:prstGeom prst="roundRect">
            <a:avLst>
              <a:gd name="adj" fmla="val 7273"/>
            </a:avLst>
          </a:prstGeom>
          <a:solidFill>
            <a:schemeClr val="bg2"/>
          </a:solidFill>
        </p:spPr>
      </p:sp>
      <p:sp>
        <p:nvSpPr>
          <p:cNvPr id="15" name="Barrier icon 2 circle"/>
          <p:cNvSpPr/>
          <p:nvPr/>
        </p:nvSpPr>
        <p:spPr>
          <a:xfrm>
            <a:off x="3566160" y="2560320"/>
            <a:ext cx="548640" cy="548640"/>
          </a:xfrm>
          <a:prstGeom prst="ellipse">
            <a:avLst/>
          </a:prstGeom>
          <a:solidFill>
            <a:schemeClr val="accent1"/>
          </a:solidFill>
        </p:spPr>
      </p:sp>
      <p:pic>
        <p:nvPicPr>
          <p:cNvPr id="16" name="Barrier icon 2" descr="Barrier icon 2"/>
          <p:cNvPicPr>
            <a:picLocks noChangeAspect="1"/>
          </p:cNvPicPr>
          <p:nvPr/>
        </p:nvPicPr>
        <p:blipFill>
          <a:blip r:embed="rId2"/>
          <a:stretch>
            <a:fillRect/>
          </a:stretch>
        </p:blipFill>
        <p:spPr>
          <a:xfrm>
            <a:off x="3697834" y="2691994"/>
            <a:ext cx="285293" cy="285293"/>
          </a:xfrm>
          <a:prstGeom prst="rect">
            <a:avLst/>
          </a:prstGeom>
        </p:spPr>
      </p:pic>
      <p:sp>
        <p:nvSpPr>
          <p:cNvPr id="17" name="Text 12"/>
          <p:cNvSpPr txBox="1"/>
          <p:nvPr/>
        </p:nvSpPr>
        <p:spPr>
          <a:xfrm>
            <a:off x="4297680" y="2441448"/>
            <a:ext cx="4206240" cy="822960"/>
          </a:xfrm>
          <a:prstGeom prst="rect">
            <a:avLst/>
          </a:prstGeom>
          <a:noFill/>
        </p:spPr>
        <p:txBody>
          <a:bodyPr wrap="square" lIns="0" tIns="0" rIns="0" bIns="0" rtlCol="0" anchor="ctr"/>
          <a:lstStyle/>
          <a:p>
            <a:pPr marL="0" indent="0">
              <a:buNone/>
            </a:pPr>
            <a:r>
              <a:rPr lang="en-US" sz="1600" b="1" dirty="0">
                <a:solidFill>
                  <a:schemeClr val="tx1"/>
                </a:solidFill>
              </a:rPr>
              <a:t>Too few certified interpreters</a:t>
            </a:r>
            <a:endParaRPr lang="en-US" sz="1600" dirty="0"/>
          </a:p>
          <a:p>
            <a:pPr marL="0" indent="0">
              <a:buNone/>
            </a:pPr>
            <a:r>
              <a:rPr lang="en-US" sz="1400" dirty="0">
                <a:solidFill>
                  <a:schemeClr val="tx1"/>
                </a:solidFill>
              </a:rPr>
              <a:t>Signers fall back on family or written notes, losing privacy and independence</a:t>
            </a:r>
            <a:endParaRPr lang="en-US" sz="1600" dirty="0"/>
          </a:p>
        </p:txBody>
      </p:sp>
      <p:sp>
        <p:nvSpPr>
          <p:cNvPr id="18" name="Barrier card 3"/>
          <p:cNvSpPr/>
          <p:nvPr/>
        </p:nvSpPr>
        <p:spPr>
          <a:xfrm>
            <a:off x="3383280" y="3474720"/>
            <a:ext cx="5303520" cy="1005840"/>
          </a:xfrm>
          <a:prstGeom prst="roundRect">
            <a:avLst>
              <a:gd name="adj" fmla="val 7273"/>
            </a:avLst>
          </a:prstGeom>
          <a:solidFill>
            <a:schemeClr val="bg2"/>
          </a:solidFill>
        </p:spPr>
      </p:sp>
      <p:sp>
        <p:nvSpPr>
          <p:cNvPr id="19" name="Barrier icon 3 circle"/>
          <p:cNvSpPr/>
          <p:nvPr/>
        </p:nvSpPr>
        <p:spPr>
          <a:xfrm>
            <a:off x="3566160" y="3703320"/>
            <a:ext cx="548640" cy="548640"/>
          </a:xfrm>
          <a:prstGeom prst="ellipse">
            <a:avLst/>
          </a:prstGeom>
          <a:solidFill>
            <a:schemeClr val="accent1"/>
          </a:solidFill>
        </p:spPr>
      </p:sp>
      <p:pic>
        <p:nvPicPr>
          <p:cNvPr id="20" name="Barrier icon 3" descr="Barrier icon 3"/>
          <p:cNvPicPr>
            <a:picLocks noChangeAspect="1"/>
          </p:cNvPicPr>
          <p:nvPr/>
        </p:nvPicPr>
        <p:blipFill>
          <a:blip r:embed="rId3"/>
          <a:stretch>
            <a:fillRect/>
          </a:stretch>
        </p:blipFill>
        <p:spPr>
          <a:xfrm>
            <a:off x="3697834" y="3834994"/>
            <a:ext cx="285293" cy="285293"/>
          </a:xfrm>
          <a:prstGeom prst="rect">
            <a:avLst/>
          </a:prstGeom>
        </p:spPr>
      </p:pic>
      <p:sp>
        <p:nvSpPr>
          <p:cNvPr id="21" name="Text 15"/>
          <p:cNvSpPr txBox="1"/>
          <p:nvPr/>
        </p:nvSpPr>
        <p:spPr>
          <a:xfrm>
            <a:off x="4297680" y="3584448"/>
            <a:ext cx="4206240" cy="822960"/>
          </a:xfrm>
          <a:prstGeom prst="rect">
            <a:avLst/>
          </a:prstGeom>
          <a:noFill/>
        </p:spPr>
        <p:txBody>
          <a:bodyPr wrap="square" lIns="0" tIns="0" rIns="0" bIns="0" rtlCol="0" anchor="ctr"/>
          <a:lstStyle/>
          <a:p>
            <a:pPr marL="0" indent="0">
              <a:buNone/>
            </a:pPr>
            <a:r>
              <a:rPr lang="en-US" sz="1600" b="1" dirty="0">
                <a:solidFill>
                  <a:schemeClr val="tx1"/>
                </a:solidFill>
              </a:rPr>
              <a:t>ISL is a complete language</a:t>
            </a:r>
            <a:endParaRPr lang="en-US" sz="1600" dirty="0"/>
          </a:p>
          <a:p>
            <a:pPr marL="0" indent="0">
              <a:buNone/>
            </a:pPr>
            <a:r>
              <a:rPr lang="en-US" sz="1400" dirty="0">
                <a:solidFill>
                  <a:schemeClr val="tx1"/>
                </a:solidFill>
              </a:rPr>
              <a:t>Own grammar, with handshape, location, motion and facial markers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The problem and its constraints</a:t>
            </a:r>
            <a:endParaRPr lang="en-US" sz="3000" dirty="0"/>
          </a:p>
        </p:txBody>
      </p:sp>
      <p:sp>
        <p:nvSpPr>
          <p:cNvPr id="4" name="Formulation card"/>
          <p:cNvSpPr/>
          <p:nvPr/>
        </p:nvSpPr>
        <p:spPr>
          <a:xfrm>
            <a:off x="457200" y="1188720"/>
            <a:ext cx="3931920" cy="731520"/>
          </a:xfrm>
          <a:prstGeom prst="roundRect">
            <a:avLst>
              <a:gd name="adj" fmla="val 10000"/>
            </a:avLst>
          </a:prstGeom>
          <a:solidFill>
            <a:schemeClr val="bg2"/>
          </a:solidFill>
        </p:spPr>
      </p:sp>
      <p:sp>
        <p:nvSpPr>
          <p:cNvPr id="5" name="Text 2"/>
          <p:cNvSpPr txBox="1"/>
          <p:nvPr/>
        </p:nvSpPr>
        <p:spPr>
          <a:xfrm>
            <a:off x="640080" y="1188720"/>
            <a:ext cx="3566160" cy="731520"/>
          </a:xfrm>
          <a:prstGeom prst="rect">
            <a:avLst/>
          </a:prstGeom>
          <a:noFill/>
        </p:spPr>
        <p:txBody>
          <a:bodyPr wrap="square" lIns="0" tIns="0" rIns="0" bIns="0" rtlCol="0" anchor="ctr"/>
          <a:lstStyle/>
          <a:p>
            <a:pPr marL="0" indent="0">
              <a:buNone/>
            </a:pPr>
            <a:r>
              <a:rPr lang="en-US" sz="1800" b="1" dirty="0">
                <a:solidFill>
                  <a:schemeClr val="tx2"/>
                </a:solidFill>
              </a:rPr>
              <a:t>ŷ = argmax P(c | X1:T),  c ∈ C</a:t>
            </a:r>
            <a:endParaRPr lang="en-US" sz="1800" dirty="0"/>
          </a:p>
        </p:txBody>
      </p:sp>
      <p:sp>
        <p:nvSpPr>
          <p:cNvPr id="6" name="Requirement 1"/>
          <p:cNvSpPr/>
          <p:nvPr/>
        </p:nvSpPr>
        <p:spPr>
          <a:xfrm>
            <a:off x="457200" y="2029968"/>
            <a:ext cx="3931920" cy="731520"/>
          </a:xfrm>
          <a:prstGeom prst="roundRect">
            <a:avLst>
              <a:gd name="adj" fmla="val 10000"/>
            </a:avLst>
          </a:prstGeom>
          <a:solidFill>
            <a:schemeClr val="bg2"/>
          </a:solidFill>
        </p:spPr>
      </p:sp>
      <p:sp>
        <p:nvSpPr>
          <p:cNvPr id="7" name="Requirement icon 1 circle"/>
          <p:cNvSpPr/>
          <p:nvPr/>
        </p:nvSpPr>
        <p:spPr>
          <a:xfrm>
            <a:off x="594360" y="2157984"/>
            <a:ext cx="475488" cy="475488"/>
          </a:xfrm>
          <a:prstGeom prst="ellipse">
            <a:avLst/>
          </a:prstGeom>
          <a:solidFill>
            <a:schemeClr val="accent2"/>
          </a:solidFill>
        </p:spPr>
      </p:sp>
      <p:pic>
        <p:nvPicPr>
          <p:cNvPr id="8" name="Requirement icon 1" descr="Requirement icon 1"/>
          <p:cNvPicPr>
            <a:picLocks noChangeAspect="1"/>
          </p:cNvPicPr>
          <p:nvPr/>
        </p:nvPicPr>
        <p:blipFill>
          <a:blip r:embed="rId1"/>
          <a:stretch>
            <a:fillRect/>
          </a:stretch>
        </p:blipFill>
        <p:spPr>
          <a:xfrm>
            <a:off x="708477" y="2272101"/>
            <a:ext cx="247254" cy="247254"/>
          </a:xfrm>
          <a:prstGeom prst="rect">
            <a:avLst/>
          </a:prstGeom>
        </p:spPr>
      </p:pic>
      <p:sp>
        <p:nvSpPr>
          <p:cNvPr id="9" name="Text 5"/>
          <p:cNvSpPr txBox="1"/>
          <p:nvPr/>
        </p:nvSpPr>
        <p:spPr>
          <a:xfrm>
            <a:off x="1234440" y="2029968"/>
            <a:ext cx="3063240" cy="731520"/>
          </a:xfrm>
          <a:prstGeom prst="rect">
            <a:avLst/>
          </a:prstGeom>
          <a:noFill/>
        </p:spPr>
        <p:txBody>
          <a:bodyPr wrap="square" lIns="0" tIns="0" rIns="0" bIns="0" rtlCol="0" anchor="ctr"/>
          <a:lstStyle/>
          <a:p>
            <a:pPr marL="0" indent="0">
              <a:buNone/>
            </a:pPr>
            <a:r>
              <a:rPr lang="en-US" sz="1400" dirty="0">
                <a:solidFill>
                  <a:schemeClr val="tx1"/>
                </a:solidFill>
              </a:rPr>
              <a:t>Under 50 ms per frame, 25+ FPS</a:t>
            </a:r>
            <a:endParaRPr lang="en-US" sz="1400" dirty="0"/>
          </a:p>
        </p:txBody>
      </p:sp>
      <p:sp>
        <p:nvSpPr>
          <p:cNvPr id="10" name="Requirement 2"/>
          <p:cNvSpPr/>
          <p:nvPr/>
        </p:nvSpPr>
        <p:spPr>
          <a:xfrm>
            <a:off x="457200" y="2871216"/>
            <a:ext cx="3931920" cy="731520"/>
          </a:xfrm>
          <a:prstGeom prst="roundRect">
            <a:avLst>
              <a:gd name="adj" fmla="val 10000"/>
            </a:avLst>
          </a:prstGeom>
          <a:solidFill>
            <a:schemeClr val="bg2"/>
          </a:solidFill>
        </p:spPr>
      </p:sp>
      <p:sp>
        <p:nvSpPr>
          <p:cNvPr id="11" name="Requirement icon 2 circle"/>
          <p:cNvSpPr/>
          <p:nvPr/>
        </p:nvSpPr>
        <p:spPr>
          <a:xfrm>
            <a:off x="594360" y="2999232"/>
            <a:ext cx="475488" cy="475488"/>
          </a:xfrm>
          <a:prstGeom prst="ellipse">
            <a:avLst/>
          </a:prstGeom>
          <a:solidFill>
            <a:schemeClr val="accent2"/>
          </a:solidFill>
        </p:spPr>
      </p:sp>
      <p:pic>
        <p:nvPicPr>
          <p:cNvPr id="12" name="Requirement icon 2" descr="Requirement icon 2"/>
          <p:cNvPicPr>
            <a:picLocks noChangeAspect="1"/>
          </p:cNvPicPr>
          <p:nvPr/>
        </p:nvPicPr>
        <p:blipFill>
          <a:blip r:embed="rId2"/>
          <a:stretch>
            <a:fillRect/>
          </a:stretch>
        </p:blipFill>
        <p:spPr>
          <a:xfrm>
            <a:off x="708477" y="3113349"/>
            <a:ext cx="247254" cy="247254"/>
          </a:xfrm>
          <a:prstGeom prst="rect">
            <a:avLst/>
          </a:prstGeom>
        </p:spPr>
      </p:pic>
      <p:sp>
        <p:nvSpPr>
          <p:cNvPr id="13" name="Text 8"/>
          <p:cNvSpPr txBox="1"/>
          <p:nvPr/>
        </p:nvSpPr>
        <p:spPr>
          <a:xfrm>
            <a:off x="1234440" y="2871216"/>
            <a:ext cx="3063240" cy="731520"/>
          </a:xfrm>
          <a:prstGeom prst="rect">
            <a:avLst/>
          </a:prstGeom>
          <a:noFill/>
        </p:spPr>
        <p:txBody>
          <a:bodyPr wrap="square" lIns="0" tIns="0" rIns="0" bIns="0" rtlCol="0" anchor="ctr"/>
          <a:lstStyle/>
          <a:p>
            <a:pPr marL="0" indent="0">
              <a:buNone/>
            </a:pPr>
            <a:r>
              <a:rPr lang="en-US" sz="1400" dirty="0">
                <a:solidFill>
                  <a:schemeClr val="tx1"/>
                </a:solidFill>
              </a:rPr>
              <a:t>Plain webcam: no GPU, gloves or depth sensor</a:t>
            </a:r>
            <a:endParaRPr lang="en-US" sz="1400" dirty="0"/>
          </a:p>
        </p:txBody>
      </p:sp>
      <p:sp>
        <p:nvSpPr>
          <p:cNvPr id="14" name="Requirement 3"/>
          <p:cNvSpPr/>
          <p:nvPr/>
        </p:nvSpPr>
        <p:spPr>
          <a:xfrm>
            <a:off x="457200" y="3712464"/>
            <a:ext cx="3931920" cy="731520"/>
          </a:xfrm>
          <a:prstGeom prst="roundRect">
            <a:avLst>
              <a:gd name="adj" fmla="val 10000"/>
            </a:avLst>
          </a:prstGeom>
          <a:solidFill>
            <a:schemeClr val="bg2"/>
          </a:solidFill>
        </p:spPr>
      </p:sp>
      <p:sp>
        <p:nvSpPr>
          <p:cNvPr id="15" name="Requirement icon 3 circle"/>
          <p:cNvSpPr/>
          <p:nvPr/>
        </p:nvSpPr>
        <p:spPr>
          <a:xfrm>
            <a:off x="594360" y="3840480"/>
            <a:ext cx="475488" cy="475488"/>
          </a:xfrm>
          <a:prstGeom prst="ellipse">
            <a:avLst/>
          </a:prstGeom>
          <a:solidFill>
            <a:schemeClr val="accent2"/>
          </a:solidFill>
        </p:spPr>
      </p:sp>
      <p:pic>
        <p:nvPicPr>
          <p:cNvPr id="16" name="Requirement icon 3" descr="Requirement icon 3"/>
          <p:cNvPicPr>
            <a:picLocks noChangeAspect="1"/>
          </p:cNvPicPr>
          <p:nvPr/>
        </p:nvPicPr>
        <p:blipFill>
          <a:blip r:embed="rId3"/>
          <a:stretch>
            <a:fillRect/>
          </a:stretch>
        </p:blipFill>
        <p:spPr>
          <a:xfrm>
            <a:off x="708477" y="3954597"/>
            <a:ext cx="247254" cy="247254"/>
          </a:xfrm>
          <a:prstGeom prst="rect">
            <a:avLst/>
          </a:prstGeom>
        </p:spPr>
      </p:pic>
      <p:sp>
        <p:nvSpPr>
          <p:cNvPr id="17" name="Text 11"/>
          <p:cNvSpPr txBox="1"/>
          <p:nvPr/>
        </p:nvSpPr>
        <p:spPr>
          <a:xfrm>
            <a:off x="1234440" y="3712464"/>
            <a:ext cx="3063240" cy="731520"/>
          </a:xfrm>
          <a:prstGeom prst="rect">
            <a:avLst/>
          </a:prstGeom>
          <a:noFill/>
        </p:spPr>
        <p:txBody>
          <a:bodyPr wrap="square" lIns="0" tIns="0" rIns="0" bIns="0" rtlCol="0" anchor="ctr"/>
          <a:lstStyle/>
          <a:p>
            <a:pPr marL="0" indent="0">
              <a:buNone/>
            </a:pPr>
            <a:r>
              <a:rPr lang="en-US" sz="1400" dirty="0">
                <a:solidFill>
                  <a:schemeClr val="tx1"/>
                </a:solidFill>
              </a:rPr>
              <a:t>Both directions: sign to text, and speech to sign</a:t>
            </a:r>
            <a:endParaRPr lang="en-US" sz="1400" dirty="0"/>
          </a:p>
        </p:txBody>
      </p:sp>
      <p:sp>
        <p:nvSpPr>
          <p:cNvPr id="18" name="Challenges card"/>
          <p:cNvSpPr/>
          <p:nvPr/>
        </p:nvSpPr>
        <p:spPr>
          <a:xfrm>
            <a:off x="4663440" y="1188720"/>
            <a:ext cx="4023360" cy="3273552"/>
          </a:xfrm>
          <a:prstGeom prst="roundRect">
            <a:avLst>
              <a:gd name="adj" fmla="val 2235"/>
            </a:avLst>
          </a:prstGeom>
          <a:solidFill>
            <a:schemeClr val="bg2"/>
          </a:solidFill>
        </p:spPr>
      </p:sp>
      <p:sp>
        <p:nvSpPr>
          <p:cNvPr id="19" name="Text 13"/>
          <p:cNvSpPr txBox="1"/>
          <p:nvPr/>
        </p:nvSpPr>
        <p:spPr>
          <a:xfrm>
            <a:off x="4846320" y="1298448"/>
            <a:ext cx="3657600" cy="320040"/>
          </a:xfrm>
          <a:prstGeom prst="rect">
            <a:avLst/>
          </a:prstGeom>
          <a:noFill/>
        </p:spPr>
        <p:txBody>
          <a:bodyPr wrap="square" lIns="0" tIns="0" rIns="0" bIns="0" rtlCol="0" anchor="t"/>
          <a:lstStyle/>
          <a:p>
            <a:pPr marL="0" indent="0">
              <a:buNone/>
            </a:pPr>
            <a:r>
              <a:rPr lang="en-US" sz="1800" b="1" dirty="0">
                <a:solidFill>
                  <a:schemeClr val="tx1"/>
                </a:solidFill>
              </a:rPr>
              <a:t>Five research challenges</a:t>
            </a:r>
            <a:endParaRPr lang="en-US" sz="1800" dirty="0"/>
          </a:p>
        </p:txBody>
      </p:sp>
      <p:sp>
        <p:nvSpPr>
          <p:cNvPr id="20" name="Step 1"/>
          <p:cNvSpPr/>
          <p:nvPr/>
        </p:nvSpPr>
        <p:spPr>
          <a:xfrm>
            <a:off x="4846320" y="1764792"/>
            <a:ext cx="384048" cy="384048"/>
          </a:xfrm>
          <a:prstGeom prst="ellipse">
            <a:avLst/>
          </a:prstGeom>
          <a:solidFill>
            <a:schemeClr val="tx2"/>
          </a:solidFill>
        </p:spPr>
      </p:sp>
      <p:sp>
        <p:nvSpPr>
          <p:cNvPr id="21" name="Text 15"/>
          <p:cNvSpPr txBox="1"/>
          <p:nvPr/>
        </p:nvSpPr>
        <p:spPr>
          <a:xfrm>
            <a:off x="4846320" y="1764792"/>
            <a:ext cx="384048" cy="384048"/>
          </a:xfrm>
          <a:prstGeom prst="rect">
            <a:avLst/>
          </a:prstGeom>
          <a:noFill/>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22" name="Text 16"/>
          <p:cNvSpPr txBox="1"/>
          <p:nvPr/>
        </p:nvSpPr>
        <p:spPr>
          <a:xfrm>
            <a:off x="5394960" y="1764792"/>
            <a:ext cx="3200400" cy="384048"/>
          </a:xfrm>
          <a:prstGeom prst="rect">
            <a:avLst/>
          </a:prstGeom>
          <a:noFill/>
        </p:spPr>
        <p:txBody>
          <a:bodyPr wrap="square" lIns="0" tIns="0" rIns="0" bIns="0" rtlCol="0" anchor="ctr"/>
          <a:lstStyle/>
          <a:p>
            <a:pPr marL="0" indent="0">
              <a:buNone/>
            </a:pPr>
            <a:r>
              <a:rPr lang="en-US" sz="1400" dirty="0">
                <a:solidFill>
                  <a:schemeClr val="tx1"/>
                </a:solidFill>
              </a:rPr>
              <a:t>Two-hand occlusion</a:t>
            </a:r>
            <a:endParaRPr lang="en-US" sz="1400" dirty="0"/>
          </a:p>
        </p:txBody>
      </p:sp>
      <p:sp>
        <p:nvSpPr>
          <p:cNvPr id="23" name="Step 2"/>
          <p:cNvSpPr/>
          <p:nvPr/>
        </p:nvSpPr>
        <p:spPr>
          <a:xfrm>
            <a:off x="4846320" y="2295144"/>
            <a:ext cx="384048" cy="384048"/>
          </a:xfrm>
          <a:prstGeom prst="ellipse">
            <a:avLst/>
          </a:prstGeom>
          <a:solidFill>
            <a:schemeClr val="tx2"/>
          </a:solidFill>
        </p:spPr>
      </p:sp>
      <p:sp>
        <p:nvSpPr>
          <p:cNvPr id="24" name="Text 18"/>
          <p:cNvSpPr txBox="1"/>
          <p:nvPr/>
        </p:nvSpPr>
        <p:spPr>
          <a:xfrm>
            <a:off x="4846320" y="2295144"/>
            <a:ext cx="384048" cy="384048"/>
          </a:xfrm>
          <a:prstGeom prst="rect">
            <a:avLst/>
          </a:prstGeom>
          <a:noFill/>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5" name="Text 19"/>
          <p:cNvSpPr txBox="1"/>
          <p:nvPr/>
        </p:nvSpPr>
        <p:spPr>
          <a:xfrm>
            <a:off x="5394960" y="2295144"/>
            <a:ext cx="3200400" cy="384048"/>
          </a:xfrm>
          <a:prstGeom prst="rect">
            <a:avLst/>
          </a:prstGeom>
          <a:noFill/>
        </p:spPr>
        <p:txBody>
          <a:bodyPr wrap="square" lIns="0" tIns="0" rIns="0" bIns="0" rtlCol="0" anchor="ctr"/>
          <a:lstStyle/>
          <a:p>
            <a:pPr marL="0" indent="0">
              <a:buNone/>
            </a:pPr>
            <a:r>
              <a:rPr lang="en-US" sz="1400" dirty="0">
                <a:solidFill>
                  <a:schemeClr val="tx1"/>
                </a:solidFill>
              </a:rPr>
              <a:t>Look-alike signs (D vs O, V vs W)</a:t>
            </a:r>
            <a:endParaRPr lang="en-US" sz="1400" dirty="0"/>
          </a:p>
        </p:txBody>
      </p:sp>
      <p:sp>
        <p:nvSpPr>
          <p:cNvPr id="26" name="Step 3"/>
          <p:cNvSpPr/>
          <p:nvPr/>
        </p:nvSpPr>
        <p:spPr>
          <a:xfrm>
            <a:off x="4846320" y="2825496"/>
            <a:ext cx="384048" cy="384048"/>
          </a:xfrm>
          <a:prstGeom prst="ellipse">
            <a:avLst/>
          </a:prstGeom>
          <a:solidFill>
            <a:schemeClr val="tx2"/>
          </a:solidFill>
        </p:spPr>
      </p:sp>
      <p:sp>
        <p:nvSpPr>
          <p:cNvPr id="27" name="Text 21"/>
          <p:cNvSpPr txBox="1"/>
          <p:nvPr/>
        </p:nvSpPr>
        <p:spPr>
          <a:xfrm>
            <a:off x="4846320" y="2825496"/>
            <a:ext cx="384048" cy="384048"/>
          </a:xfrm>
          <a:prstGeom prst="rect">
            <a:avLst/>
          </a:prstGeom>
          <a:noFill/>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8" name="Text 22"/>
          <p:cNvSpPr txBox="1"/>
          <p:nvPr/>
        </p:nvSpPr>
        <p:spPr>
          <a:xfrm>
            <a:off x="5394960" y="2825496"/>
            <a:ext cx="3200400" cy="384048"/>
          </a:xfrm>
          <a:prstGeom prst="rect">
            <a:avLst/>
          </a:prstGeom>
          <a:noFill/>
        </p:spPr>
        <p:txBody>
          <a:bodyPr wrap="square" lIns="0" tIns="0" rIns="0" bIns="0" rtlCol="0" anchor="ctr"/>
          <a:lstStyle/>
          <a:p>
            <a:pPr marL="0" indent="0">
              <a:buNone/>
            </a:pPr>
            <a:r>
              <a:rPr lang="en-US" sz="1400" dirty="0">
                <a:solidFill>
                  <a:schemeClr val="tx1"/>
                </a:solidFill>
              </a:rPr>
              <a:t>Flicker between signs</a:t>
            </a:r>
            <a:endParaRPr lang="en-US" sz="1400" dirty="0"/>
          </a:p>
        </p:txBody>
      </p:sp>
      <p:sp>
        <p:nvSpPr>
          <p:cNvPr id="29" name="Step 4"/>
          <p:cNvSpPr/>
          <p:nvPr/>
        </p:nvSpPr>
        <p:spPr>
          <a:xfrm>
            <a:off x="4846320" y="3355848"/>
            <a:ext cx="384048" cy="384048"/>
          </a:xfrm>
          <a:prstGeom prst="ellipse">
            <a:avLst/>
          </a:prstGeom>
          <a:solidFill>
            <a:schemeClr val="tx2"/>
          </a:solidFill>
        </p:spPr>
      </p:sp>
      <p:sp>
        <p:nvSpPr>
          <p:cNvPr id="30" name="Text 24"/>
          <p:cNvSpPr txBox="1"/>
          <p:nvPr/>
        </p:nvSpPr>
        <p:spPr>
          <a:xfrm>
            <a:off x="4846320" y="3355848"/>
            <a:ext cx="384048" cy="384048"/>
          </a:xfrm>
          <a:prstGeom prst="rect">
            <a:avLst/>
          </a:prstGeom>
          <a:noFill/>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1" name="Text 25"/>
          <p:cNvSpPr txBox="1"/>
          <p:nvPr/>
        </p:nvSpPr>
        <p:spPr>
          <a:xfrm>
            <a:off x="5394960" y="3355848"/>
            <a:ext cx="3200400" cy="384048"/>
          </a:xfrm>
          <a:prstGeom prst="rect">
            <a:avLst/>
          </a:prstGeom>
          <a:noFill/>
        </p:spPr>
        <p:txBody>
          <a:bodyPr wrap="square" lIns="0" tIns="0" rIns="0" bIns="0" rtlCol="0" anchor="ctr"/>
          <a:lstStyle/>
          <a:p>
            <a:pPr marL="0" indent="0">
              <a:buNone/>
            </a:pPr>
            <a:r>
              <a:rPr lang="en-US" sz="1400" dirty="0">
                <a:solidFill>
                  <a:schemeClr val="tx1"/>
                </a:solidFill>
              </a:rPr>
              <a:t>Lighting and background changes</a:t>
            </a:r>
            <a:endParaRPr lang="en-US" sz="1400" dirty="0"/>
          </a:p>
        </p:txBody>
      </p:sp>
      <p:sp>
        <p:nvSpPr>
          <p:cNvPr id="32" name="Step 5"/>
          <p:cNvSpPr/>
          <p:nvPr/>
        </p:nvSpPr>
        <p:spPr>
          <a:xfrm>
            <a:off x="4846320" y="3886200"/>
            <a:ext cx="384048" cy="384048"/>
          </a:xfrm>
          <a:prstGeom prst="ellipse">
            <a:avLst/>
          </a:prstGeom>
          <a:solidFill>
            <a:schemeClr val="tx2"/>
          </a:solidFill>
        </p:spPr>
      </p:sp>
      <p:sp>
        <p:nvSpPr>
          <p:cNvPr id="33" name="Text 27"/>
          <p:cNvSpPr txBox="1"/>
          <p:nvPr/>
        </p:nvSpPr>
        <p:spPr>
          <a:xfrm>
            <a:off x="4846320" y="3886200"/>
            <a:ext cx="384048" cy="384048"/>
          </a:xfrm>
          <a:prstGeom prst="rect">
            <a:avLst/>
          </a:prstGeom>
          <a:noFill/>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4" name="Text 28"/>
          <p:cNvSpPr txBox="1"/>
          <p:nvPr/>
        </p:nvSpPr>
        <p:spPr>
          <a:xfrm>
            <a:off x="5394960" y="3886200"/>
            <a:ext cx="3200400" cy="384048"/>
          </a:xfrm>
          <a:prstGeom prst="rect">
            <a:avLst/>
          </a:prstGeom>
          <a:noFill/>
        </p:spPr>
        <p:txBody>
          <a:bodyPr wrap="square" lIns="0" tIns="0" rIns="0" bIns="0" rtlCol="0" anchor="ctr"/>
          <a:lstStyle/>
          <a:p>
            <a:pPr marL="0" indent="0">
              <a:buNone/>
            </a:pPr>
            <a:r>
              <a:rPr lang="en-US" sz="1400" dirty="0">
                <a:solidFill>
                  <a:schemeClr val="tx1"/>
                </a:solidFill>
              </a:rPr>
              <a:t>SOV grammar vs English SVO</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Four eras of sign language recognition</a:t>
            </a:r>
            <a:endParaRPr lang="en-US" sz="3000" dirty="0"/>
          </a:p>
        </p:txBody>
      </p:sp>
      <p:sp>
        <p:nvSpPr>
          <p:cNvPr id="4" name="Era card 1"/>
          <p:cNvSpPr/>
          <p:nvPr/>
        </p:nvSpPr>
        <p:spPr>
          <a:xfrm>
            <a:off x="457200" y="1188720"/>
            <a:ext cx="1920240" cy="2606040"/>
          </a:xfrm>
          <a:prstGeom prst="roundRect">
            <a:avLst>
              <a:gd name="adj" fmla="val 3810"/>
            </a:avLst>
          </a:prstGeom>
          <a:solidFill>
            <a:schemeClr val="bg2"/>
          </a:solidFill>
        </p:spPr>
      </p:sp>
      <p:sp>
        <p:nvSpPr>
          <p:cNvPr id="5" name="Era chip 1"/>
          <p:cNvSpPr/>
          <p:nvPr/>
        </p:nvSpPr>
        <p:spPr>
          <a:xfrm>
            <a:off x="594360" y="1325880"/>
            <a:ext cx="1005840" cy="310896"/>
          </a:xfrm>
          <a:prstGeom prst="roundRect">
            <a:avLst>
              <a:gd name="adj" fmla="val 29412"/>
            </a:avLst>
          </a:prstGeom>
          <a:solidFill>
            <a:schemeClr val="accent1"/>
          </a:solidFill>
        </p:spPr>
      </p:sp>
      <p:sp>
        <p:nvSpPr>
          <p:cNvPr id="6" name="Text 3"/>
          <p:cNvSpPr txBox="1"/>
          <p:nvPr/>
        </p:nvSpPr>
        <p:spPr>
          <a:xfrm>
            <a:off x="594360" y="1325880"/>
            <a:ext cx="1005840" cy="310896"/>
          </a:xfrm>
          <a:prstGeom prst="rect">
            <a:avLst/>
          </a:prstGeom>
          <a:noFill/>
        </p:spPr>
        <p:txBody>
          <a:bodyPr wrap="square" lIns="0" tIns="0" rIns="0" bIns="0" rtlCol="0" anchor="ctr"/>
          <a:lstStyle/>
          <a:p>
            <a:pPr marL="0" indent="0" algn="ctr">
              <a:buNone/>
            </a:pPr>
            <a:r>
              <a:rPr lang="en-US" sz="1400" b="1" dirty="0">
                <a:solidFill>
                  <a:schemeClr val="tx1"/>
                </a:solidFill>
              </a:rPr>
              <a:t>2015-18</a:t>
            </a:r>
            <a:endParaRPr lang="en-US" sz="1400" dirty="0"/>
          </a:p>
        </p:txBody>
      </p:sp>
      <p:sp>
        <p:nvSpPr>
          <p:cNvPr id="7" name="Text 4"/>
          <p:cNvSpPr txBox="1"/>
          <p:nvPr/>
        </p:nvSpPr>
        <p:spPr>
          <a:xfrm>
            <a:off x="594360" y="1783080"/>
            <a:ext cx="1645920" cy="548640"/>
          </a:xfrm>
          <a:prstGeom prst="rect">
            <a:avLst/>
          </a:prstGeom>
          <a:noFill/>
        </p:spPr>
        <p:txBody>
          <a:bodyPr wrap="square" lIns="0" tIns="0" rIns="0" bIns="0" rtlCol="0" anchor="t"/>
          <a:lstStyle/>
          <a:p>
            <a:pPr marL="0" indent="0">
              <a:buNone/>
            </a:pPr>
            <a:r>
              <a:rPr lang="en-US" sz="1600" b="1" dirty="0">
                <a:solidFill>
                  <a:schemeClr val="tx1"/>
                </a:solidFill>
              </a:rPr>
              <a:t>Handcrafted features</a:t>
            </a:r>
            <a:endParaRPr lang="en-US" sz="1600" dirty="0"/>
          </a:p>
        </p:txBody>
      </p:sp>
      <p:sp>
        <p:nvSpPr>
          <p:cNvPr id="8" name="Text 5"/>
          <p:cNvSpPr txBox="1"/>
          <p:nvPr/>
        </p:nvSpPr>
        <p:spPr>
          <a:xfrm>
            <a:off x="594360" y="2395728"/>
            <a:ext cx="1645920" cy="1325880"/>
          </a:xfrm>
          <a:prstGeom prst="rect">
            <a:avLst/>
          </a:prstGeom>
          <a:noFill/>
        </p:spPr>
        <p:txBody>
          <a:bodyPr wrap="square" lIns="0" tIns="0" rIns="0" bIns="0" rtlCol="0" anchor="t"/>
          <a:lstStyle/>
          <a:p>
            <a:pPr marL="0" indent="0">
              <a:buNone/>
            </a:pPr>
            <a:r>
              <a:rPr lang="en-US" sz="1400" dirty="0">
                <a:solidFill>
                  <a:schemeClr val="tx1"/>
                </a:solidFill>
              </a:rPr>
              <a:t>Skin segmentation with SVM or ANN: 97.1% in the lab, under 70% in clutter</a:t>
            </a:r>
            <a:endParaRPr lang="en-US" sz="1400" dirty="0"/>
          </a:p>
        </p:txBody>
      </p:sp>
      <p:sp>
        <p:nvSpPr>
          <p:cNvPr id="9" name="Era card 2"/>
          <p:cNvSpPr/>
          <p:nvPr/>
        </p:nvSpPr>
        <p:spPr>
          <a:xfrm>
            <a:off x="2560320" y="1188720"/>
            <a:ext cx="1920240" cy="2606040"/>
          </a:xfrm>
          <a:prstGeom prst="roundRect">
            <a:avLst>
              <a:gd name="adj" fmla="val 3810"/>
            </a:avLst>
          </a:prstGeom>
          <a:solidFill>
            <a:schemeClr val="bg2"/>
          </a:solidFill>
        </p:spPr>
      </p:sp>
      <p:sp>
        <p:nvSpPr>
          <p:cNvPr id="10" name="Era chip 2"/>
          <p:cNvSpPr/>
          <p:nvPr/>
        </p:nvSpPr>
        <p:spPr>
          <a:xfrm>
            <a:off x="2697480" y="1325880"/>
            <a:ext cx="1005840" cy="310896"/>
          </a:xfrm>
          <a:prstGeom prst="roundRect">
            <a:avLst>
              <a:gd name="adj" fmla="val 29412"/>
            </a:avLst>
          </a:prstGeom>
          <a:solidFill>
            <a:schemeClr val="accent2"/>
          </a:solidFill>
        </p:spPr>
      </p:sp>
      <p:sp>
        <p:nvSpPr>
          <p:cNvPr id="11" name="Text 8"/>
          <p:cNvSpPr txBox="1"/>
          <p:nvPr/>
        </p:nvSpPr>
        <p:spPr>
          <a:xfrm>
            <a:off x="2697480" y="1325880"/>
            <a:ext cx="1005840" cy="310896"/>
          </a:xfrm>
          <a:prstGeom prst="rect">
            <a:avLst/>
          </a:prstGeom>
          <a:noFill/>
        </p:spPr>
        <p:txBody>
          <a:bodyPr wrap="square" lIns="0" tIns="0" rIns="0" bIns="0" rtlCol="0" anchor="ctr"/>
          <a:lstStyle/>
          <a:p>
            <a:pPr marL="0" indent="0" algn="ctr">
              <a:buNone/>
            </a:pPr>
            <a:r>
              <a:rPr lang="en-US" sz="1400" b="1" dirty="0">
                <a:solidFill>
                  <a:schemeClr val="tx1"/>
                </a:solidFill>
              </a:rPr>
              <a:t>2019-22</a:t>
            </a:r>
            <a:endParaRPr lang="en-US" sz="1400" dirty="0"/>
          </a:p>
        </p:txBody>
      </p:sp>
      <p:sp>
        <p:nvSpPr>
          <p:cNvPr id="12" name="Text 9"/>
          <p:cNvSpPr txBox="1"/>
          <p:nvPr/>
        </p:nvSpPr>
        <p:spPr>
          <a:xfrm>
            <a:off x="2697480" y="1783080"/>
            <a:ext cx="1645920" cy="548640"/>
          </a:xfrm>
          <a:prstGeom prst="rect">
            <a:avLst/>
          </a:prstGeom>
          <a:noFill/>
        </p:spPr>
        <p:txBody>
          <a:bodyPr wrap="square" lIns="0" tIns="0" rIns="0" bIns="0" rtlCol="0" anchor="t"/>
          <a:lstStyle/>
          <a:p>
            <a:pPr marL="0" indent="0">
              <a:buNone/>
            </a:pPr>
            <a:r>
              <a:rPr lang="en-US" sz="1600" b="1" dirty="0">
                <a:solidFill>
                  <a:schemeClr val="tx1"/>
                </a:solidFill>
              </a:rPr>
              <a:t>CNNs on raw RGB</a:t>
            </a:r>
            <a:endParaRPr lang="en-US" sz="1600" dirty="0"/>
          </a:p>
        </p:txBody>
      </p:sp>
      <p:sp>
        <p:nvSpPr>
          <p:cNvPr id="13" name="Text 10"/>
          <p:cNvSpPr txBox="1"/>
          <p:nvPr/>
        </p:nvSpPr>
        <p:spPr>
          <a:xfrm>
            <a:off x="2697480" y="2395728"/>
            <a:ext cx="1645920" cy="1325880"/>
          </a:xfrm>
          <a:prstGeom prst="rect">
            <a:avLst/>
          </a:prstGeom>
          <a:noFill/>
        </p:spPr>
        <p:txBody>
          <a:bodyPr wrap="square" lIns="0" tIns="0" rIns="0" bIns="0" rtlCol="0" anchor="t"/>
          <a:lstStyle/>
          <a:p>
            <a:pPr marL="0" indent="0">
              <a:buNone/>
            </a:pPr>
            <a:r>
              <a:rPr lang="en-US" sz="1400" dirty="0">
                <a:solidFill>
                  <a:schemeClr val="tx1"/>
                </a:solidFill>
              </a:rPr>
              <a:t>92.8% on 35 classes, but heavy and sensitive to lighting</a:t>
            </a:r>
            <a:endParaRPr lang="en-US" sz="1400" dirty="0"/>
          </a:p>
        </p:txBody>
      </p:sp>
      <p:sp>
        <p:nvSpPr>
          <p:cNvPr id="14" name="Era card 3"/>
          <p:cNvSpPr/>
          <p:nvPr/>
        </p:nvSpPr>
        <p:spPr>
          <a:xfrm>
            <a:off x="4663440" y="1188720"/>
            <a:ext cx="1920240" cy="2606040"/>
          </a:xfrm>
          <a:prstGeom prst="roundRect">
            <a:avLst>
              <a:gd name="adj" fmla="val 3810"/>
            </a:avLst>
          </a:prstGeom>
          <a:solidFill>
            <a:schemeClr val="bg2"/>
          </a:solidFill>
        </p:spPr>
      </p:sp>
      <p:sp>
        <p:nvSpPr>
          <p:cNvPr id="15" name="Era chip 3"/>
          <p:cNvSpPr/>
          <p:nvPr/>
        </p:nvSpPr>
        <p:spPr>
          <a:xfrm>
            <a:off x="4800600" y="1325880"/>
            <a:ext cx="1005840" cy="310896"/>
          </a:xfrm>
          <a:prstGeom prst="roundRect">
            <a:avLst>
              <a:gd name="adj" fmla="val 29412"/>
            </a:avLst>
          </a:prstGeom>
          <a:solidFill>
            <a:schemeClr val="accent3"/>
          </a:solidFill>
        </p:spPr>
      </p:sp>
      <p:sp>
        <p:nvSpPr>
          <p:cNvPr id="16" name="Text 13"/>
          <p:cNvSpPr txBox="1"/>
          <p:nvPr/>
        </p:nvSpPr>
        <p:spPr>
          <a:xfrm>
            <a:off x="4800600" y="1325880"/>
            <a:ext cx="1005840" cy="310896"/>
          </a:xfrm>
          <a:prstGeom prst="rect">
            <a:avLst/>
          </a:prstGeom>
          <a:noFill/>
        </p:spPr>
        <p:txBody>
          <a:bodyPr wrap="square" lIns="0" tIns="0" rIns="0" bIns="0" rtlCol="0" anchor="ctr"/>
          <a:lstStyle/>
          <a:p>
            <a:pPr marL="0" indent="0" algn="ctr">
              <a:buNone/>
            </a:pPr>
            <a:r>
              <a:rPr lang="en-US" sz="1400" b="1" dirty="0">
                <a:solidFill>
                  <a:schemeClr val="bg1"/>
                </a:solidFill>
              </a:rPr>
              <a:t>2022-25</a:t>
            </a:r>
            <a:endParaRPr lang="en-US" sz="1400" dirty="0"/>
          </a:p>
        </p:txBody>
      </p:sp>
      <p:sp>
        <p:nvSpPr>
          <p:cNvPr id="17" name="Text 14"/>
          <p:cNvSpPr txBox="1"/>
          <p:nvPr/>
        </p:nvSpPr>
        <p:spPr>
          <a:xfrm>
            <a:off x="4800600" y="1783080"/>
            <a:ext cx="1645920" cy="548640"/>
          </a:xfrm>
          <a:prstGeom prst="rect">
            <a:avLst/>
          </a:prstGeom>
          <a:noFill/>
        </p:spPr>
        <p:txBody>
          <a:bodyPr wrap="square" lIns="0" tIns="0" rIns="0" bIns="0" rtlCol="0" anchor="t"/>
          <a:lstStyle/>
          <a:p>
            <a:pPr marL="0" indent="0">
              <a:buNone/>
            </a:pPr>
            <a:r>
              <a:rPr lang="en-US" sz="1600" b="1" dirty="0">
                <a:solidFill>
                  <a:schemeClr val="tx1"/>
                </a:solidFill>
              </a:rPr>
              <a:t>Landmarks and ensembles</a:t>
            </a:r>
            <a:endParaRPr lang="en-US" sz="1600" dirty="0"/>
          </a:p>
        </p:txBody>
      </p:sp>
      <p:sp>
        <p:nvSpPr>
          <p:cNvPr id="18" name="Text 15"/>
          <p:cNvSpPr txBox="1"/>
          <p:nvPr/>
        </p:nvSpPr>
        <p:spPr>
          <a:xfrm>
            <a:off x="4800600" y="2395728"/>
            <a:ext cx="1645920" cy="1325880"/>
          </a:xfrm>
          <a:prstGeom prst="rect">
            <a:avLst/>
          </a:prstGeom>
          <a:noFill/>
        </p:spPr>
        <p:txBody>
          <a:bodyPr wrap="square" lIns="0" tIns="0" rIns="0" bIns="0" rtlCol="0" anchor="t"/>
          <a:lstStyle/>
          <a:p>
            <a:pPr marL="0" indent="0">
              <a:buNone/>
            </a:pPr>
            <a:r>
              <a:rPr lang="en-US" sz="1400" dirty="0">
                <a:solidFill>
                  <a:schemeClr val="tx1"/>
                </a:solidFill>
              </a:rPr>
              <a:t>MediaPipe with Random Forest: 99.95% on 35 classes</a:t>
            </a:r>
            <a:endParaRPr lang="en-US" sz="1400" dirty="0"/>
          </a:p>
        </p:txBody>
      </p:sp>
      <p:sp>
        <p:nvSpPr>
          <p:cNvPr id="19" name="Era card 4"/>
          <p:cNvSpPr/>
          <p:nvPr/>
        </p:nvSpPr>
        <p:spPr>
          <a:xfrm>
            <a:off x="6766560" y="1188720"/>
            <a:ext cx="1920240" cy="2606040"/>
          </a:xfrm>
          <a:prstGeom prst="roundRect">
            <a:avLst>
              <a:gd name="adj" fmla="val 3810"/>
            </a:avLst>
          </a:prstGeom>
          <a:solidFill>
            <a:schemeClr val="bg2"/>
          </a:solidFill>
        </p:spPr>
      </p:sp>
      <p:sp>
        <p:nvSpPr>
          <p:cNvPr id="20" name="Era chip 4"/>
          <p:cNvSpPr/>
          <p:nvPr/>
        </p:nvSpPr>
        <p:spPr>
          <a:xfrm>
            <a:off x="6903720" y="1325880"/>
            <a:ext cx="1005840" cy="310896"/>
          </a:xfrm>
          <a:prstGeom prst="roundRect">
            <a:avLst>
              <a:gd name="adj" fmla="val 29412"/>
            </a:avLst>
          </a:prstGeom>
          <a:solidFill>
            <a:schemeClr val="accent4"/>
          </a:solidFill>
        </p:spPr>
      </p:sp>
      <p:sp>
        <p:nvSpPr>
          <p:cNvPr id="21" name="Text 18"/>
          <p:cNvSpPr txBox="1"/>
          <p:nvPr/>
        </p:nvSpPr>
        <p:spPr>
          <a:xfrm>
            <a:off x="6903720" y="1325880"/>
            <a:ext cx="1005840" cy="310896"/>
          </a:xfrm>
          <a:prstGeom prst="rect">
            <a:avLst/>
          </a:prstGeom>
          <a:noFill/>
        </p:spPr>
        <p:txBody>
          <a:bodyPr wrap="square" lIns="0" tIns="0" rIns="0" bIns="0" rtlCol="0" anchor="ctr"/>
          <a:lstStyle/>
          <a:p>
            <a:pPr marL="0" indent="0" algn="ctr">
              <a:buNone/>
            </a:pPr>
            <a:r>
              <a:rPr lang="en-US" sz="1400" b="1" dirty="0">
                <a:solidFill>
                  <a:schemeClr val="tx1"/>
                </a:solidFill>
              </a:rPr>
              <a:t>2026+</a:t>
            </a:r>
            <a:endParaRPr lang="en-US" sz="1400" dirty="0"/>
          </a:p>
        </p:txBody>
      </p:sp>
      <p:sp>
        <p:nvSpPr>
          <p:cNvPr id="22" name="Text 19"/>
          <p:cNvSpPr txBox="1"/>
          <p:nvPr/>
        </p:nvSpPr>
        <p:spPr>
          <a:xfrm>
            <a:off x="6903720" y="1783080"/>
            <a:ext cx="1645920" cy="548640"/>
          </a:xfrm>
          <a:prstGeom prst="rect">
            <a:avLst/>
          </a:prstGeom>
          <a:noFill/>
        </p:spPr>
        <p:txBody>
          <a:bodyPr wrap="square" lIns="0" tIns="0" rIns="0" bIns="0" rtlCol="0" anchor="t"/>
          <a:lstStyle/>
          <a:p>
            <a:pPr marL="0" indent="0">
              <a:buNone/>
            </a:pPr>
            <a:r>
              <a:rPr lang="en-US" sz="1600" b="1" dirty="0">
                <a:solidFill>
                  <a:schemeClr val="tx1"/>
                </a:solidFill>
              </a:rPr>
              <a:t>Transformers, multimodal</a:t>
            </a:r>
            <a:endParaRPr lang="en-US" sz="1600" dirty="0"/>
          </a:p>
        </p:txBody>
      </p:sp>
      <p:sp>
        <p:nvSpPr>
          <p:cNvPr id="23" name="Text 20"/>
          <p:cNvSpPr txBox="1"/>
          <p:nvPr/>
        </p:nvSpPr>
        <p:spPr>
          <a:xfrm>
            <a:off x="6903720" y="2395728"/>
            <a:ext cx="1645920" cy="1325880"/>
          </a:xfrm>
          <a:prstGeom prst="rect">
            <a:avLst/>
          </a:prstGeom>
          <a:noFill/>
        </p:spPr>
        <p:txBody>
          <a:bodyPr wrap="square" lIns="0" tIns="0" rIns="0" bIns="0" rtlCol="0" anchor="t"/>
          <a:lstStyle/>
          <a:p>
            <a:pPr marL="0" indent="0">
              <a:buNone/>
            </a:pPr>
            <a:r>
              <a:rPr lang="en-US" sz="1400" dirty="0">
                <a:solidFill>
                  <a:schemeClr val="tx1"/>
                </a:solidFill>
              </a:rPr>
              <a:t>Self-attention: 97.4% on 26 letters; speech-to-ISL emerges</a:t>
            </a:r>
            <a:endParaRPr lang="en-US" sz="1400" dirty="0"/>
          </a:p>
        </p:txBody>
      </p:sp>
      <p:sp>
        <p:nvSpPr>
          <p:cNvPr id="24" name="Gaps banner"/>
          <p:cNvSpPr/>
          <p:nvPr/>
        </p:nvSpPr>
        <p:spPr>
          <a:xfrm>
            <a:off x="457200" y="3931920"/>
            <a:ext cx="8229600" cy="548640"/>
          </a:xfrm>
          <a:prstGeom prst="roundRect">
            <a:avLst>
              <a:gd name="adj" fmla="val 13333"/>
            </a:avLst>
          </a:prstGeom>
          <a:solidFill>
            <a:schemeClr val="tx2"/>
          </a:solidFill>
        </p:spPr>
      </p:sp>
      <p:sp>
        <p:nvSpPr>
          <p:cNvPr id="25" name="Text 22"/>
          <p:cNvSpPr txBox="1"/>
          <p:nvPr/>
        </p:nvSpPr>
        <p:spPr>
          <a:xfrm>
            <a:off x="640080" y="3931920"/>
            <a:ext cx="7863840" cy="548640"/>
          </a:xfrm>
          <a:prstGeom prst="rect">
            <a:avLst/>
          </a:prstGeom>
          <a:noFill/>
        </p:spPr>
        <p:txBody>
          <a:bodyPr wrap="square" lIns="0" tIns="0" rIns="0" bIns="0" rtlCol="0" anchor="ctr"/>
          <a:lstStyle/>
          <a:p>
            <a:pPr marL="0" indent="0">
              <a:buNone/>
            </a:pPr>
            <a:r>
              <a:rPr lang="en-US" sz="1400" b="1" dirty="0">
                <a:solidFill>
                  <a:schemeClr val="accent2"/>
                </a:solidFill>
              </a:rPr>
              <a:t>Gaps we address: </a:t>
            </a:r>
            <a:r>
              <a:rPr lang="en-US" sz="1400" dirty="0">
                <a:solidFill>
                  <a:schemeClr val="bg1"/>
                </a:solidFill>
              </a:rPr>
              <a:t>one-way systems, single-hand bias, no deployable web platform</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Project objectives</a:t>
            </a:r>
            <a:endParaRPr lang="en-US" sz="3000" dirty="0"/>
          </a:p>
        </p:txBody>
      </p:sp>
      <p:sp>
        <p:nvSpPr>
          <p:cNvPr id="4" name="Objective card 1"/>
          <p:cNvSpPr/>
          <p:nvPr/>
        </p:nvSpPr>
        <p:spPr>
          <a:xfrm>
            <a:off x="457200" y="1188720"/>
            <a:ext cx="2651760" cy="1600200"/>
          </a:xfrm>
          <a:prstGeom prst="roundRect">
            <a:avLst>
              <a:gd name="adj" fmla="val 4571"/>
            </a:avLst>
          </a:prstGeom>
          <a:solidFill>
            <a:schemeClr val="bg2"/>
          </a:solidFill>
        </p:spPr>
      </p:sp>
      <p:sp>
        <p:nvSpPr>
          <p:cNvPr id="5" name="Objective icon 1 circle"/>
          <p:cNvSpPr/>
          <p:nvPr/>
        </p:nvSpPr>
        <p:spPr>
          <a:xfrm>
            <a:off x="640080" y="1325880"/>
            <a:ext cx="457200" cy="457200"/>
          </a:xfrm>
          <a:prstGeom prst="ellipse">
            <a:avLst/>
          </a:prstGeom>
          <a:solidFill>
            <a:schemeClr val="accent1"/>
          </a:solidFill>
        </p:spPr>
      </p:sp>
      <p:pic>
        <p:nvPicPr>
          <p:cNvPr id="6" name="Objective icon 1" descr="Objective icon 1"/>
          <p:cNvPicPr>
            <a:picLocks noChangeAspect="1"/>
          </p:cNvPicPr>
          <p:nvPr/>
        </p:nvPicPr>
        <p:blipFill>
          <a:blip r:embed="rId1"/>
          <a:stretch>
            <a:fillRect/>
          </a:stretch>
        </p:blipFill>
        <p:spPr>
          <a:xfrm>
            <a:off x="749808" y="1435608"/>
            <a:ext cx="237744" cy="237744"/>
          </a:xfrm>
          <a:prstGeom prst="rect">
            <a:avLst/>
          </a:prstGeom>
        </p:spPr>
      </p:pic>
      <p:sp>
        <p:nvSpPr>
          <p:cNvPr id="7" name="Text 3"/>
          <p:cNvSpPr txBox="1"/>
          <p:nvPr/>
        </p:nvSpPr>
        <p:spPr>
          <a:xfrm>
            <a:off x="640080" y="1883664"/>
            <a:ext cx="2286000" cy="274320"/>
          </a:xfrm>
          <a:prstGeom prst="rect">
            <a:avLst/>
          </a:prstGeom>
          <a:noFill/>
        </p:spPr>
        <p:txBody>
          <a:bodyPr wrap="square" lIns="0" tIns="0" rIns="0" bIns="0" rtlCol="0" anchor="t"/>
          <a:lstStyle/>
          <a:p>
            <a:pPr marL="0" indent="0">
              <a:buNone/>
            </a:pPr>
            <a:r>
              <a:rPr lang="en-US" sz="1600" b="1" dirty="0">
                <a:solidFill>
                  <a:schemeClr val="tx1"/>
                </a:solidFill>
              </a:rPr>
              <a:t>Real-time vision</a:t>
            </a:r>
            <a:endParaRPr lang="en-US" sz="1600" dirty="0"/>
          </a:p>
        </p:txBody>
      </p:sp>
      <p:sp>
        <p:nvSpPr>
          <p:cNvPr id="8" name="Text 4"/>
          <p:cNvSpPr txBox="1"/>
          <p:nvPr/>
        </p:nvSpPr>
        <p:spPr>
          <a:xfrm>
            <a:off x="640080" y="2176272"/>
            <a:ext cx="2286000" cy="548640"/>
          </a:xfrm>
          <a:prstGeom prst="rect">
            <a:avLst/>
          </a:prstGeom>
          <a:noFill/>
        </p:spPr>
        <p:txBody>
          <a:bodyPr wrap="square" lIns="0" tIns="0" rIns="0" bIns="0" rtlCol="0" anchor="t"/>
          <a:lstStyle/>
          <a:p>
            <a:pPr marL="0" indent="0">
              <a:buNone/>
            </a:pPr>
            <a:r>
              <a:rPr lang="en-US" sz="1400" dirty="0">
                <a:solidFill>
                  <a:schemeClr val="tx1"/>
                </a:solidFill>
              </a:rPr>
              <a:t>21 3D landmarks per hand at 30+ FPS</a:t>
            </a:r>
            <a:endParaRPr lang="en-US" sz="1400" dirty="0"/>
          </a:p>
        </p:txBody>
      </p:sp>
      <p:sp>
        <p:nvSpPr>
          <p:cNvPr id="9" name="Objective card 2"/>
          <p:cNvSpPr/>
          <p:nvPr/>
        </p:nvSpPr>
        <p:spPr>
          <a:xfrm>
            <a:off x="3246120" y="1188720"/>
            <a:ext cx="2651760" cy="1600200"/>
          </a:xfrm>
          <a:prstGeom prst="roundRect">
            <a:avLst>
              <a:gd name="adj" fmla="val 4571"/>
            </a:avLst>
          </a:prstGeom>
          <a:solidFill>
            <a:schemeClr val="bg2"/>
          </a:solidFill>
        </p:spPr>
      </p:sp>
      <p:sp>
        <p:nvSpPr>
          <p:cNvPr id="10" name="Objective icon 2 circle"/>
          <p:cNvSpPr/>
          <p:nvPr/>
        </p:nvSpPr>
        <p:spPr>
          <a:xfrm>
            <a:off x="3429000" y="1325880"/>
            <a:ext cx="457200" cy="457200"/>
          </a:xfrm>
          <a:prstGeom prst="ellipse">
            <a:avLst/>
          </a:prstGeom>
          <a:solidFill>
            <a:schemeClr val="accent1"/>
          </a:solidFill>
        </p:spPr>
      </p:sp>
      <p:pic>
        <p:nvPicPr>
          <p:cNvPr id="11" name="Objective icon 2" descr="Objective icon 2"/>
          <p:cNvPicPr>
            <a:picLocks noChangeAspect="1"/>
          </p:cNvPicPr>
          <p:nvPr/>
        </p:nvPicPr>
        <p:blipFill>
          <a:blip r:embed="rId2"/>
          <a:stretch>
            <a:fillRect/>
          </a:stretch>
        </p:blipFill>
        <p:spPr>
          <a:xfrm>
            <a:off x="3538728" y="1435608"/>
            <a:ext cx="237744" cy="237744"/>
          </a:xfrm>
          <a:prstGeom prst="rect">
            <a:avLst/>
          </a:prstGeom>
        </p:spPr>
      </p:pic>
      <p:sp>
        <p:nvSpPr>
          <p:cNvPr id="12" name="Text 7"/>
          <p:cNvSpPr txBox="1"/>
          <p:nvPr/>
        </p:nvSpPr>
        <p:spPr>
          <a:xfrm>
            <a:off x="3429000" y="1883664"/>
            <a:ext cx="2286000" cy="274320"/>
          </a:xfrm>
          <a:prstGeom prst="rect">
            <a:avLst/>
          </a:prstGeom>
          <a:noFill/>
        </p:spPr>
        <p:txBody>
          <a:bodyPr wrap="square" lIns="0" tIns="0" rIns="0" bIns="0" rtlCol="0" anchor="t"/>
          <a:lstStyle/>
          <a:p>
            <a:pPr marL="0" indent="0">
              <a:buNone/>
            </a:pPr>
            <a:r>
              <a:rPr lang="en-US" sz="1600" b="1" dirty="0">
                <a:solidFill>
                  <a:schemeClr val="tx1"/>
                </a:solidFill>
              </a:rPr>
              <a:t>Invariant features</a:t>
            </a:r>
            <a:endParaRPr lang="en-US" sz="1600" dirty="0"/>
          </a:p>
        </p:txBody>
      </p:sp>
      <p:sp>
        <p:nvSpPr>
          <p:cNvPr id="13" name="Text 8"/>
          <p:cNvSpPr txBox="1"/>
          <p:nvPr/>
        </p:nvSpPr>
        <p:spPr>
          <a:xfrm>
            <a:off x="3429000" y="2176272"/>
            <a:ext cx="2286000" cy="548640"/>
          </a:xfrm>
          <a:prstGeom prst="rect">
            <a:avLst/>
          </a:prstGeom>
          <a:noFill/>
        </p:spPr>
        <p:txBody>
          <a:bodyPr wrap="square" lIns="0" tIns="0" rIns="0" bIns="0" rtlCol="0" anchor="t"/>
          <a:lstStyle/>
          <a:p>
            <a:pPr marL="0" indent="0">
              <a:buNone/>
            </a:pPr>
            <a:r>
              <a:rPr lang="en-US" sz="1400" dirty="0">
                <a:solidFill>
                  <a:schemeClr val="tx1"/>
                </a:solidFill>
              </a:rPr>
              <a:t>156-D vector, robust to scale and position</a:t>
            </a:r>
            <a:endParaRPr lang="en-US" sz="1400" dirty="0"/>
          </a:p>
        </p:txBody>
      </p:sp>
      <p:sp>
        <p:nvSpPr>
          <p:cNvPr id="14" name="Objective card 3"/>
          <p:cNvSpPr/>
          <p:nvPr/>
        </p:nvSpPr>
        <p:spPr>
          <a:xfrm>
            <a:off x="6035040" y="1188720"/>
            <a:ext cx="2651760" cy="1600200"/>
          </a:xfrm>
          <a:prstGeom prst="roundRect">
            <a:avLst>
              <a:gd name="adj" fmla="val 4571"/>
            </a:avLst>
          </a:prstGeom>
          <a:solidFill>
            <a:schemeClr val="bg2"/>
          </a:solidFill>
        </p:spPr>
      </p:sp>
      <p:sp>
        <p:nvSpPr>
          <p:cNvPr id="15" name="Objective icon 3 circle"/>
          <p:cNvSpPr/>
          <p:nvPr/>
        </p:nvSpPr>
        <p:spPr>
          <a:xfrm>
            <a:off x="6217920" y="1325880"/>
            <a:ext cx="457200" cy="457200"/>
          </a:xfrm>
          <a:prstGeom prst="ellipse">
            <a:avLst/>
          </a:prstGeom>
          <a:solidFill>
            <a:schemeClr val="accent1"/>
          </a:solidFill>
        </p:spPr>
      </p:sp>
      <p:pic>
        <p:nvPicPr>
          <p:cNvPr id="16" name="Objective icon 3" descr="Objective icon 3"/>
          <p:cNvPicPr>
            <a:picLocks noChangeAspect="1"/>
          </p:cNvPicPr>
          <p:nvPr/>
        </p:nvPicPr>
        <p:blipFill>
          <a:blip r:embed="rId3"/>
          <a:stretch>
            <a:fillRect/>
          </a:stretch>
        </p:blipFill>
        <p:spPr>
          <a:xfrm>
            <a:off x="6327648" y="1435608"/>
            <a:ext cx="237744" cy="237744"/>
          </a:xfrm>
          <a:prstGeom prst="rect">
            <a:avLst/>
          </a:prstGeom>
        </p:spPr>
      </p:pic>
      <p:sp>
        <p:nvSpPr>
          <p:cNvPr id="17" name="Text 11"/>
          <p:cNvSpPr txBox="1"/>
          <p:nvPr/>
        </p:nvSpPr>
        <p:spPr>
          <a:xfrm>
            <a:off x="6217920" y="1883664"/>
            <a:ext cx="2286000" cy="274320"/>
          </a:xfrm>
          <a:prstGeom prst="rect">
            <a:avLst/>
          </a:prstGeom>
          <a:noFill/>
        </p:spPr>
        <p:txBody>
          <a:bodyPr wrap="square" lIns="0" tIns="0" rIns="0" bIns="0" rtlCol="0" anchor="t"/>
          <a:lstStyle/>
          <a:p>
            <a:pPr marL="0" indent="0">
              <a:buNone/>
            </a:pPr>
            <a:r>
              <a:rPr lang="en-US" sz="1600" b="1" dirty="0">
                <a:solidFill>
                  <a:schemeClr val="tx1"/>
                </a:solidFill>
              </a:rPr>
              <a:t>45-class recognition</a:t>
            </a:r>
            <a:endParaRPr lang="en-US" sz="1600" dirty="0"/>
          </a:p>
        </p:txBody>
      </p:sp>
      <p:sp>
        <p:nvSpPr>
          <p:cNvPr id="18" name="Text 12"/>
          <p:cNvSpPr txBox="1"/>
          <p:nvPr/>
        </p:nvSpPr>
        <p:spPr>
          <a:xfrm>
            <a:off x="6217920" y="2176272"/>
            <a:ext cx="2286000" cy="548640"/>
          </a:xfrm>
          <a:prstGeom prst="rect">
            <a:avLst/>
          </a:prstGeom>
          <a:noFill/>
        </p:spPr>
        <p:txBody>
          <a:bodyPr wrap="square" lIns="0" tIns="0" rIns="0" bIns="0" rtlCol="0" anchor="t"/>
          <a:lstStyle/>
          <a:p>
            <a:pPr marL="0" indent="0">
              <a:buNone/>
            </a:pPr>
            <a:r>
              <a:rPr lang="en-US" sz="1400" dirty="0">
                <a:solidFill>
                  <a:schemeClr val="tx1"/>
                </a:solidFill>
              </a:rPr>
              <a:t>Random Forest benchmarked against an MLP</a:t>
            </a:r>
            <a:endParaRPr lang="en-US" sz="1400" dirty="0"/>
          </a:p>
        </p:txBody>
      </p:sp>
      <p:sp>
        <p:nvSpPr>
          <p:cNvPr id="19" name="Objective card 4"/>
          <p:cNvSpPr/>
          <p:nvPr/>
        </p:nvSpPr>
        <p:spPr>
          <a:xfrm>
            <a:off x="457200" y="2926080"/>
            <a:ext cx="2651760" cy="1600200"/>
          </a:xfrm>
          <a:prstGeom prst="roundRect">
            <a:avLst>
              <a:gd name="adj" fmla="val 4571"/>
            </a:avLst>
          </a:prstGeom>
          <a:solidFill>
            <a:schemeClr val="bg2"/>
          </a:solidFill>
        </p:spPr>
      </p:sp>
      <p:sp>
        <p:nvSpPr>
          <p:cNvPr id="20" name="Objective icon 4 circle"/>
          <p:cNvSpPr/>
          <p:nvPr/>
        </p:nvSpPr>
        <p:spPr>
          <a:xfrm>
            <a:off x="640080" y="3063240"/>
            <a:ext cx="457200" cy="457200"/>
          </a:xfrm>
          <a:prstGeom prst="ellipse">
            <a:avLst/>
          </a:prstGeom>
          <a:solidFill>
            <a:schemeClr val="accent1"/>
          </a:solidFill>
        </p:spPr>
      </p:sp>
      <p:pic>
        <p:nvPicPr>
          <p:cNvPr id="21" name="Objective icon 4" descr="Objective icon 4"/>
          <p:cNvPicPr>
            <a:picLocks noChangeAspect="1"/>
          </p:cNvPicPr>
          <p:nvPr/>
        </p:nvPicPr>
        <p:blipFill>
          <a:blip r:embed="rId4"/>
          <a:stretch>
            <a:fillRect/>
          </a:stretch>
        </p:blipFill>
        <p:spPr>
          <a:xfrm>
            <a:off x="749808" y="3172968"/>
            <a:ext cx="237744" cy="237744"/>
          </a:xfrm>
          <a:prstGeom prst="rect">
            <a:avLst/>
          </a:prstGeom>
        </p:spPr>
      </p:pic>
      <p:sp>
        <p:nvSpPr>
          <p:cNvPr id="22" name="Text 15"/>
          <p:cNvSpPr txBox="1"/>
          <p:nvPr/>
        </p:nvSpPr>
        <p:spPr>
          <a:xfrm>
            <a:off x="640080" y="3621024"/>
            <a:ext cx="2286000" cy="274320"/>
          </a:xfrm>
          <a:prstGeom prst="rect">
            <a:avLst/>
          </a:prstGeom>
          <a:noFill/>
        </p:spPr>
        <p:txBody>
          <a:bodyPr wrap="square" lIns="0" tIns="0" rIns="0" bIns="0" rtlCol="0" anchor="t"/>
          <a:lstStyle/>
          <a:p>
            <a:pPr marL="0" indent="0">
              <a:buNone/>
            </a:pPr>
            <a:r>
              <a:rPr lang="en-US" sz="1600" b="1" dirty="0">
                <a:solidFill>
                  <a:schemeClr val="tx1"/>
                </a:solidFill>
              </a:rPr>
              <a:t>No false insertions</a:t>
            </a:r>
            <a:endParaRPr lang="en-US" sz="1600" dirty="0"/>
          </a:p>
        </p:txBody>
      </p:sp>
      <p:sp>
        <p:nvSpPr>
          <p:cNvPr id="23" name="Text 16"/>
          <p:cNvSpPr txBox="1"/>
          <p:nvPr/>
        </p:nvSpPr>
        <p:spPr>
          <a:xfrm>
            <a:off x="640080" y="3913632"/>
            <a:ext cx="2286000" cy="548640"/>
          </a:xfrm>
          <a:prstGeom prst="rect">
            <a:avLst/>
          </a:prstGeom>
          <a:noFill/>
        </p:spPr>
        <p:txBody>
          <a:bodyPr wrap="square" lIns="0" tIns="0" rIns="0" bIns="0" rtlCol="0" anchor="t"/>
          <a:lstStyle/>
          <a:p>
            <a:pPr marL="0" indent="0">
              <a:buNone/>
            </a:pPr>
            <a:r>
              <a:rPr lang="en-US" sz="1400" dirty="0">
                <a:solidFill>
                  <a:schemeClr val="tx1"/>
                </a:solidFill>
              </a:rPr>
              <a:t>Hysteresis state machine with hold confirmation</a:t>
            </a:r>
            <a:endParaRPr lang="en-US" sz="1400" dirty="0"/>
          </a:p>
        </p:txBody>
      </p:sp>
      <p:sp>
        <p:nvSpPr>
          <p:cNvPr id="24" name="Objective card 5"/>
          <p:cNvSpPr/>
          <p:nvPr/>
        </p:nvSpPr>
        <p:spPr>
          <a:xfrm>
            <a:off x="3246120" y="2926080"/>
            <a:ext cx="2651760" cy="1600200"/>
          </a:xfrm>
          <a:prstGeom prst="roundRect">
            <a:avLst>
              <a:gd name="adj" fmla="val 4571"/>
            </a:avLst>
          </a:prstGeom>
          <a:solidFill>
            <a:schemeClr val="bg2"/>
          </a:solidFill>
        </p:spPr>
      </p:sp>
      <p:sp>
        <p:nvSpPr>
          <p:cNvPr id="25" name="Objective icon 5 circle"/>
          <p:cNvSpPr/>
          <p:nvPr/>
        </p:nvSpPr>
        <p:spPr>
          <a:xfrm>
            <a:off x="3429000" y="3063240"/>
            <a:ext cx="457200" cy="457200"/>
          </a:xfrm>
          <a:prstGeom prst="ellipse">
            <a:avLst/>
          </a:prstGeom>
          <a:solidFill>
            <a:schemeClr val="accent1"/>
          </a:solidFill>
        </p:spPr>
      </p:sp>
      <p:pic>
        <p:nvPicPr>
          <p:cNvPr id="26" name="Objective icon 5" descr="Objective icon 5"/>
          <p:cNvPicPr>
            <a:picLocks noChangeAspect="1"/>
          </p:cNvPicPr>
          <p:nvPr/>
        </p:nvPicPr>
        <p:blipFill>
          <a:blip r:embed="rId5"/>
          <a:stretch>
            <a:fillRect/>
          </a:stretch>
        </p:blipFill>
        <p:spPr>
          <a:xfrm>
            <a:off x="3538728" y="3172968"/>
            <a:ext cx="237744" cy="237744"/>
          </a:xfrm>
          <a:prstGeom prst="rect">
            <a:avLst/>
          </a:prstGeom>
        </p:spPr>
      </p:pic>
      <p:sp>
        <p:nvSpPr>
          <p:cNvPr id="27" name="Text 19"/>
          <p:cNvSpPr txBox="1"/>
          <p:nvPr/>
        </p:nvSpPr>
        <p:spPr>
          <a:xfrm>
            <a:off x="3429000" y="3621024"/>
            <a:ext cx="2286000" cy="274320"/>
          </a:xfrm>
          <a:prstGeom prst="rect">
            <a:avLst/>
          </a:prstGeom>
          <a:noFill/>
        </p:spPr>
        <p:txBody>
          <a:bodyPr wrap="square" lIns="0" tIns="0" rIns="0" bIns="0" rtlCol="0" anchor="t"/>
          <a:lstStyle/>
          <a:p>
            <a:pPr marL="0" indent="0">
              <a:buNone/>
            </a:pPr>
            <a:r>
              <a:rPr lang="en-US" sz="1600" b="1" dirty="0">
                <a:solidFill>
                  <a:schemeClr val="tx1"/>
                </a:solidFill>
              </a:rPr>
              <a:t>Reverse translation</a:t>
            </a:r>
            <a:endParaRPr lang="en-US" sz="1600" dirty="0"/>
          </a:p>
        </p:txBody>
      </p:sp>
      <p:sp>
        <p:nvSpPr>
          <p:cNvPr id="28" name="Text 20"/>
          <p:cNvSpPr txBox="1"/>
          <p:nvPr/>
        </p:nvSpPr>
        <p:spPr>
          <a:xfrm>
            <a:off x="3429000" y="3913632"/>
            <a:ext cx="2286000" cy="548640"/>
          </a:xfrm>
          <a:prstGeom prst="rect">
            <a:avLst/>
          </a:prstGeom>
          <a:noFill/>
        </p:spPr>
        <p:txBody>
          <a:bodyPr wrap="square" lIns="0" tIns="0" rIns="0" bIns="0" rtlCol="0" anchor="t"/>
          <a:lstStyle/>
          <a:p>
            <a:pPr marL="0" indent="0">
              <a:buNone/>
            </a:pPr>
            <a:r>
              <a:rPr lang="en-US" sz="1400" dirty="0">
                <a:solidFill>
                  <a:schemeClr val="tx1"/>
                </a:solidFill>
              </a:rPr>
              <a:t>Text, voice and YouTube to sign</a:t>
            </a:r>
            <a:endParaRPr lang="en-US" sz="1400" dirty="0"/>
          </a:p>
        </p:txBody>
      </p:sp>
      <p:sp>
        <p:nvSpPr>
          <p:cNvPr id="29" name="Objective card 6"/>
          <p:cNvSpPr/>
          <p:nvPr/>
        </p:nvSpPr>
        <p:spPr>
          <a:xfrm>
            <a:off x="6035040" y="2926080"/>
            <a:ext cx="2651760" cy="1600200"/>
          </a:xfrm>
          <a:prstGeom prst="roundRect">
            <a:avLst>
              <a:gd name="adj" fmla="val 4571"/>
            </a:avLst>
          </a:prstGeom>
          <a:solidFill>
            <a:schemeClr val="bg2"/>
          </a:solidFill>
        </p:spPr>
      </p:sp>
      <p:sp>
        <p:nvSpPr>
          <p:cNvPr id="30" name="Objective icon 6 circle"/>
          <p:cNvSpPr/>
          <p:nvPr/>
        </p:nvSpPr>
        <p:spPr>
          <a:xfrm>
            <a:off x="6217920" y="3063240"/>
            <a:ext cx="457200" cy="457200"/>
          </a:xfrm>
          <a:prstGeom prst="ellipse">
            <a:avLst/>
          </a:prstGeom>
          <a:solidFill>
            <a:schemeClr val="accent1"/>
          </a:solidFill>
        </p:spPr>
      </p:sp>
      <p:pic>
        <p:nvPicPr>
          <p:cNvPr id="31" name="Objective icon 6" descr="Objective icon 6"/>
          <p:cNvPicPr>
            <a:picLocks noChangeAspect="1"/>
          </p:cNvPicPr>
          <p:nvPr/>
        </p:nvPicPr>
        <p:blipFill>
          <a:blip r:embed="rId6"/>
          <a:stretch>
            <a:fillRect/>
          </a:stretch>
        </p:blipFill>
        <p:spPr>
          <a:xfrm>
            <a:off x="6327648" y="3172968"/>
            <a:ext cx="237744" cy="237744"/>
          </a:xfrm>
          <a:prstGeom prst="rect">
            <a:avLst/>
          </a:prstGeom>
        </p:spPr>
      </p:pic>
      <p:sp>
        <p:nvSpPr>
          <p:cNvPr id="32" name="Text 23"/>
          <p:cNvSpPr txBox="1"/>
          <p:nvPr/>
        </p:nvSpPr>
        <p:spPr>
          <a:xfrm>
            <a:off x="6217920" y="3621024"/>
            <a:ext cx="2286000" cy="274320"/>
          </a:xfrm>
          <a:prstGeom prst="rect">
            <a:avLst/>
          </a:prstGeom>
          <a:noFill/>
        </p:spPr>
        <p:txBody>
          <a:bodyPr wrap="square" lIns="0" tIns="0" rIns="0" bIns="0" rtlCol="0" anchor="t"/>
          <a:lstStyle/>
          <a:p>
            <a:pPr marL="0" indent="0">
              <a:buNone/>
            </a:pPr>
            <a:r>
              <a:rPr lang="en-US" sz="1600" b="1" dirty="0">
                <a:solidFill>
                  <a:schemeClr val="tx1"/>
                </a:solidFill>
              </a:rPr>
              <a:t>Dictionary and practice</a:t>
            </a:r>
            <a:endParaRPr lang="en-US" sz="1600" dirty="0"/>
          </a:p>
        </p:txBody>
      </p:sp>
      <p:sp>
        <p:nvSpPr>
          <p:cNvPr id="33" name="Text 24"/>
          <p:cNvSpPr txBox="1"/>
          <p:nvPr/>
        </p:nvSpPr>
        <p:spPr>
          <a:xfrm>
            <a:off x="6217920" y="3913632"/>
            <a:ext cx="2286000" cy="548640"/>
          </a:xfrm>
          <a:prstGeom prst="rect">
            <a:avLst/>
          </a:prstGeom>
          <a:noFill/>
        </p:spPr>
        <p:txBody>
          <a:bodyPr wrap="square" lIns="0" tIns="0" rIns="0" bIns="0" rtlCol="0" anchor="t"/>
          <a:lstStyle/>
          <a:p>
            <a:pPr marL="0" indent="0">
              <a:buNone/>
            </a:pPr>
            <a:r>
              <a:rPr lang="en-US" sz="1400" dirty="0">
                <a:solidFill>
                  <a:schemeClr val="tx1"/>
                </a:solidFill>
              </a:rPr>
              <a:t>204 signs and a camera practice studio</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One platform, two pathways</a:t>
            </a:r>
            <a:endParaRPr lang="en-US" sz="3000" dirty="0"/>
          </a:p>
        </p:txBody>
      </p:sp>
      <p:pic>
        <p:nvPicPr>
          <p:cNvPr id="4" name="Architecture figure" descr="End-to-end ISL Vision system architecture showing the forward and reverse pathways"/>
          <p:cNvPicPr>
            <a:picLocks noChangeAspect="1"/>
          </p:cNvPicPr>
          <p:nvPr/>
        </p:nvPicPr>
        <p:blipFill>
          <a:blip r:embed="rId1"/>
          <a:stretch>
            <a:fillRect/>
          </a:stretch>
        </p:blipFill>
        <p:spPr>
          <a:xfrm>
            <a:off x="914400" y="1097280"/>
            <a:ext cx="7315200" cy="3657600"/>
          </a:xfrm>
          <a:prstGeom prst="rect">
            <a:avLst/>
          </a:prstGeom>
        </p:spPr>
      </p:pic>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A 156-D bimanual feature vector</a:t>
            </a:r>
            <a:endParaRPr lang="en-US" sz="3000" dirty="0"/>
          </a:p>
        </p:txBody>
      </p:sp>
      <p:pic>
        <p:nvPicPr>
          <p:cNvPr id="4" name="MediaPipe landmark map" descr="MediaPipe Hands 21 landmark map with joint numbering"/>
          <p:cNvPicPr>
            <a:picLocks noChangeAspect="1"/>
          </p:cNvPicPr>
          <p:nvPr/>
        </p:nvPicPr>
        <p:blipFill>
          <a:blip r:embed="rId1"/>
          <a:stretch>
            <a:fillRect/>
          </a:stretch>
        </p:blipFill>
        <p:spPr>
          <a:xfrm>
            <a:off x="457200" y="1188720"/>
            <a:ext cx="3931920" cy="2377440"/>
          </a:xfrm>
          <a:prstGeom prst="rect">
            <a:avLst/>
          </a:prstGeom>
        </p:spPr>
      </p:pic>
      <p:sp>
        <p:nvSpPr>
          <p:cNvPr id="5" name="Text 1"/>
          <p:cNvSpPr txBox="1"/>
          <p:nvPr/>
        </p:nvSpPr>
        <p:spPr>
          <a:xfrm>
            <a:off x="457200" y="3657600"/>
            <a:ext cx="3931920" cy="228600"/>
          </a:xfrm>
          <a:prstGeom prst="rect">
            <a:avLst/>
          </a:prstGeom>
          <a:noFill/>
        </p:spPr>
        <p:txBody>
          <a:bodyPr wrap="square" lIns="0" tIns="0" rIns="0" bIns="0" rtlCol="0" anchor="t"/>
          <a:lstStyle/>
          <a:p>
            <a:pPr marL="0" indent="0">
              <a:buNone/>
            </a:pPr>
            <a:r>
              <a:rPr lang="en-US" sz="1200" dirty="0">
                <a:solidFill>
                  <a:schemeClr val="accent6"/>
                </a:solidFill>
              </a:rPr>
              <a:t>21 landmarks per hand, wrist (0) is the origin</a:t>
            </a:r>
            <a:endParaRPr lang="en-US" sz="1200" dirty="0"/>
          </a:p>
        </p:txBody>
      </p:sp>
      <p:sp>
        <p:nvSpPr>
          <p:cNvPr id="6" name="Feature step card 1"/>
          <p:cNvSpPr/>
          <p:nvPr/>
        </p:nvSpPr>
        <p:spPr>
          <a:xfrm>
            <a:off x="4663440" y="1188720"/>
            <a:ext cx="4023360" cy="822960"/>
          </a:xfrm>
          <a:prstGeom prst="roundRect">
            <a:avLst>
              <a:gd name="adj" fmla="val 8889"/>
            </a:avLst>
          </a:prstGeom>
          <a:solidFill>
            <a:schemeClr val="bg2"/>
          </a:solidFill>
        </p:spPr>
      </p:sp>
      <p:sp>
        <p:nvSpPr>
          <p:cNvPr id="7" name="Step 1"/>
          <p:cNvSpPr/>
          <p:nvPr/>
        </p:nvSpPr>
        <p:spPr>
          <a:xfrm>
            <a:off x="4800600" y="1417320"/>
            <a:ext cx="365760" cy="365760"/>
          </a:xfrm>
          <a:prstGeom prst="ellipse">
            <a:avLst/>
          </a:prstGeom>
          <a:solidFill>
            <a:schemeClr val="accent1"/>
          </a:solidFill>
        </p:spPr>
      </p:sp>
      <p:sp>
        <p:nvSpPr>
          <p:cNvPr id="8" name="Text 4"/>
          <p:cNvSpPr txBox="1"/>
          <p:nvPr/>
        </p:nvSpPr>
        <p:spPr>
          <a:xfrm>
            <a:off x="4800600" y="1417320"/>
            <a:ext cx="365760" cy="365760"/>
          </a:xfrm>
          <a:prstGeom prst="rect">
            <a:avLst/>
          </a:prstGeom>
          <a:noFill/>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9" name="Text 5"/>
          <p:cNvSpPr txBox="1"/>
          <p:nvPr/>
        </p:nvSpPr>
        <p:spPr>
          <a:xfrm>
            <a:off x="5303520" y="1234440"/>
            <a:ext cx="3291840" cy="731520"/>
          </a:xfrm>
          <a:prstGeom prst="rect">
            <a:avLst/>
          </a:prstGeom>
          <a:noFill/>
        </p:spPr>
        <p:txBody>
          <a:bodyPr wrap="square" lIns="0" tIns="0" rIns="0" bIns="0" rtlCol="0" anchor="ctr"/>
          <a:lstStyle/>
          <a:p>
            <a:pPr marL="0" indent="0">
              <a:buNone/>
            </a:pPr>
            <a:r>
              <a:rPr lang="en-US" sz="1600" b="1" dirty="0">
                <a:solidFill>
                  <a:schemeClr val="tx1"/>
                </a:solidFill>
              </a:rPr>
              <a:t>Normalize</a:t>
            </a:r>
            <a:endParaRPr lang="en-US" sz="1600" dirty="0"/>
          </a:p>
          <a:p>
            <a:pPr marL="0" indent="0">
              <a:buNone/>
            </a:pPr>
            <a:r>
              <a:rPr lang="en-US" sz="1400" dirty="0">
                <a:solidFill>
                  <a:schemeClr val="tx1"/>
                </a:solidFill>
              </a:rPr>
              <a:t>Wrist-centred, scaled by the largest wrist distance</a:t>
            </a:r>
            <a:endParaRPr lang="en-US" sz="1600" dirty="0"/>
          </a:p>
        </p:txBody>
      </p:sp>
      <p:sp>
        <p:nvSpPr>
          <p:cNvPr id="10" name="Feature step card 2"/>
          <p:cNvSpPr/>
          <p:nvPr/>
        </p:nvSpPr>
        <p:spPr>
          <a:xfrm>
            <a:off x="4663440" y="2075688"/>
            <a:ext cx="4023360" cy="822960"/>
          </a:xfrm>
          <a:prstGeom prst="roundRect">
            <a:avLst>
              <a:gd name="adj" fmla="val 8889"/>
            </a:avLst>
          </a:prstGeom>
          <a:solidFill>
            <a:schemeClr val="bg2"/>
          </a:solidFill>
        </p:spPr>
      </p:sp>
      <p:sp>
        <p:nvSpPr>
          <p:cNvPr id="11" name="Step 2"/>
          <p:cNvSpPr/>
          <p:nvPr/>
        </p:nvSpPr>
        <p:spPr>
          <a:xfrm>
            <a:off x="4800600" y="2304288"/>
            <a:ext cx="365760" cy="365760"/>
          </a:xfrm>
          <a:prstGeom prst="ellipse">
            <a:avLst/>
          </a:prstGeom>
          <a:solidFill>
            <a:schemeClr val="accent1"/>
          </a:solidFill>
        </p:spPr>
      </p:sp>
      <p:sp>
        <p:nvSpPr>
          <p:cNvPr id="12" name="Text 8"/>
          <p:cNvSpPr txBox="1"/>
          <p:nvPr/>
        </p:nvSpPr>
        <p:spPr>
          <a:xfrm>
            <a:off x="4800600" y="2304288"/>
            <a:ext cx="365760" cy="365760"/>
          </a:xfrm>
          <a:prstGeom prst="rect">
            <a:avLst/>
          </a:prstGeom>
          <a:noFill/>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3" name="Text 9"/>
          <p:cNvSpPr txBox="1"/>
          <p:nvPr/>
        </p:nvSpPr>
        <p:spPr>
          <a:xfrm>
            <a:off x="5303520" y="2121408"/>
            <a:ext cx="3291840" cy="731520"/>
          </a:xfrm>
          <a:prstGeom prst="rect">
            <a:avLst/>
          </a:prstGeom>
          <a:noFill/>
        </p:spPr>
        <p:txBody>
          <a:bodyPr wrap="square" lIns="0" tIns="0" rIns="0" bIns="0" rtlCol="0" anchor="ctr"/>
          <a:lstStyle/>
          <a:p>
            <a:pPr marL="0" indent="0">
              <a:buNone/>
            </a:pPr>
            <a:r>
              <a:rPr lang="en-US" sz="1600" b="1" dirty="0">
                <a:solidFill>
                  <a:schemeClr val="tx1"/>
                </a:solidFill>
              </a:rPr>
              <a:t>Add geometry</a:t>
            </a:r>
            <a:endParaRPr lang="en-US" sz="1600" dirty="0"/>
          </a:p>
          <a:p>
            <a:pPr marL="0" indent="0">
              <a:buNone/>
            </a:pPr>
            <a:r>
              <a:rPr lang="en-US" sz="1400" dirty="0">
                <a:solidFill>
                  <a:schemeClr val="tx1"/>
                </a:solidFill>
              </a:rPr>
              <a:t>5 tip radii, 4 thumb distances, 3 finger spreads</a:t>
            </a:r>
            <a:endParaRPr lang="en-US" sz="1600" dirty="0"/>
          </a:p>
        </p:txBody>
      </p:sp>
      <p:sp>
        <p:nvSpPr>
          <p:cNvPr id="14" name="Feature step card 3"/>
          <p:cNvSpPr/>
          <p:nvPr/>
        </p:nvSpPr>
        <p:spPr>
          <a:xfrm>
            <a:off x="4663440" y="2962656"/>
            <a:ext cx="4023360" cy="822960"/>
          </a:xfrm>
          <a:prstGeom prst="roundRect">
            <a:avLst>
              <a:gd name="adj" fmla="val 8889"/>
            </a:avLst>
          </a:prstGeom>
          <a:solidFill>
            <a:schemeClr val="bg2"/>
          </a:solidFill>
        </p:spPr>
      </p:sp>
      <p:sp>
        <p:nvSpPr>
          <p:cNvPr id="15" name="Step 3"/>
          <p:cNvSpPr/>
          <p:nvPr/>
        </p:nvSpPr>
        <p:spPr>
          <a:xfrm>
            <a:off x="4800600" y="3191256"/>
            <a:ext cx="365760" cy="365760"/>
          </a:xfrm>
          <a:prstGeom prst="ellipse">
            <a:avLst/>
          </a:prstGeom>
          <a:solidFill>
            <a:schemeClr val="accent1"/>
          </a:solidFill>
        </p:spPr>
      </p:sp>
      <p:sp>
        <p:nvSpPr>
          <p:cNvPr id="16" name="Text 12"/>
          <p:cNvSpPr txBox="1"/>
          <p:nvPr/>
        </p:nvSpPr>
        <p:spPr>
          <a:xfrm>
            <a:off x="4800600" y="3191256"/>
            <a:ext cx="365760" cy="365760"/>
          </a:xfrm>
          <a:prstGeom prst="rect">
            <a:avLst/>
          </a:prstGeom>
          <a:noFill/>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7" name="Text 13"/>
          <p:cNvSpPr txBox="1"/>
          <p:nvPr/>
        </p:nvSpPr>
        <p:spPr>
          <a:xfrm>
            <a:off x="5303520" y="3008376"/>
            <a:ext cx="3291840" cy="731520"/>
          </a:xfrm>
          <a:prstGeom prst="rect">
            <a:avLst/>
          </a:prstGeom>
          <a:noFill/>
        </p:spPr>
        <p:txBody>
          <a:bodyPr wrap="square" lIns="0" tIns="0" rIns="0" bIns="0" rtlCol="0" anchor="ctr"/>
          <a:lstStyle/>
          <a:p>
            <a:pPr marL="0" indent="0">
              <a:buNone/>
            </a:pPr>
            <a:r>
              <a:rPr lang="en-US" sz="1600" b="1" dirty="0">
                <a:solidFill>
                  <a:schemeClr val="tx1"/>
                </a:solidFill>
              </a:rPr>
              <a:t>Link the hands</a:t>
            </a:r>
            <a:endParaRPr lang="en-US" sz="1600" dirty="0"/>
          </a:p>
          <a:p>
            <a:pPr marL="0" indent="0">
              <a:buNone/>
            </a:pPr>
            <a:r>
              <a:rPr lang="en-US" sz="1400" dirty="0">
                <a:solidFill>
                  <a:schemeClr val="tx1"/>
                </a:solidFill>
              </a:rPr>
              <a:t>Presence flags, wrist offset and wrist distance</a:t>
            </a:r>
            <a:endParaRPr lang="en-US" sz="1600" dirty="0"/>
          </a:p>
        </p:txBody>
      </p:sp>
      <p:sp>
        <p:nvSpPr>
          <p:cNvPr id="18" name="Vector block 1"/>
          <p:cNvSpPr/>
          <p:nvPr/>
        </p:nvSpPr>
        <p:spPr>
          <a:xfrm>
            <a:off x="457200" y="4023360"/>
            <a:ext cx="3291840" cy="457200"/>
          </a:xfrm>
          <a:prstGeom prst="roundRect">
            <a:avLst>
              <a:gd name="adj" fmla="val 16000"/>
            </a:avLst>
          </a:prstGeom>
          <a:solidFill>
            <a:schemeClr val="tx2"/>
          </a:solidFill>
        </p:spPr>
      </p:sp>
      <p:sp>
        <p:nvSpPr>
          <p:cNvPr id="19" name="Text 15"/>
          <p:cNvSpPr txBox="1"/>
          <p:nvPr/>
        </p:nvSpPr>
        <p:spPr>
          <a:xfrm>
            <a:off x="457200" y="4023360"/>
            <a:ext cx="3291840" cy="457200"/>
          </a:xfrm>
          <a:prstGeom prst="rect">
            <a:avLst/>
          </a:prstGeom>
          <a:noFill/>
        </p:spPr>
        <p:txBody>
          <a:bodyPr wrap="square" lIns="0" tIns="0" rIns="0" bIns="0" rtlCol="0" anchor="ctr"/>
          <a:lstStyle/>
          <a:p>
            <a:pPr marL="0" indent="0" algn="ctr">
              <a:buNone/>
            </a:pPr>
            <a:r>
              <a:rPr lang="en-US" sz="1400" b="1" dirty="0">
                <a:solidFill>
                  <a:schemeClr val="bg1"/>
                </a:solidFill>
              </a:rPr>
              <a:t>Hand 1: 75</a:t>
            </a:r>
            <a:endParaRPr lang="en-US" sz="1400" dirty="0"/>
          </a:p>
        </p:txBody>
      </p:sp>
      <p:sp>
        <p:nvSpPr>
          <p:cNvPr id="20" name="Vector block 2"/>
          <p:cNvSpPr/>
          <p:nvPr/>
        </p:nvSpPr>
        <p:spPr>
          <a:xfrm>
            <a:off x="3840480" y="4023360"/>
            <a:ext cx="3291840" cy="457200"/>
          </a:xfrm>
          <a:prstGeom prst="roundRect">
            <a:avLst>
              <a:gd name="adj" fmla="val 16000"/>
            </a:avLst>
          </a:prstGeom>
          <a:solidFill>
            <a:schemeClr val="tx2"/>
          </a:solidFill>
        </p:spPr>
      </p:sp>
      <p:sp>
        <p:nvSpPr>
          <p:cNvPr id="21" name="Text 17"/>
          <p:cNvSpPr txBox="1"/>
          <p:nvPr/>
        </p:nvSpPr>
        <p:spPr>
          <a:xfrm>
            <a:off x="3840480" y="4023360"/>
            <a:ext cx="3291840" cy="457200"/>
          </a:xfrm>
          <a:prstGeom prst="rect">
            <a:avLst/>
          </a:prstGeom>
          <a:noFill/>
        </p:spPr>
        <p:txBody>
          <a:bodyPr wrap="square" lIns="0" tIns="0" rIns="0" bIns="0" rtlCol="0" anchor="ctr"/>
          <a:lstStyle/>
          <a:p>
            <a:pPr marL="0" indent="0" algn="ctr">
              <a:buNone/>
            </a:pPr>
            <a:r>
              <a:rPr lang="en-US" sz="1400" b="1" dirty="0">
                <a:solidFill>
                  <a:schemeClr val="bg1"/>
                </a:solidFill>
              </a:rPr>
              <a:t>Hand 2: 75</a:t>
            </a:r>
            <a:endParaRPr lang="en-US" sz="1400" dirty="0"/>
          </a:p>
        </p:txBody>
      </p:sp>
      <p:sp>
        <p:nvSpPr>
          <p:cNvPr id="22" name="Vector block 3"/>
          <p:cNvSpPr/>
          <p:nvPr/>
        </p:nvSpPr>
        <p:spPr>
          <a:xfrm>
            <a:off x="7223760" y="4023360"/>
            <a:ext cx="1463040" cy="457200"/>
          </a:xfrm>
          <a:prstGeom prst="roundRect">
            <a:avLst>
              <a:gd name="adj" fmla="val 16000"/>
            </a:avLst>
          </a:prstGeom>
          <a:solidFill>
            <a:schemeClr val="accent2"/>
          </a:solidFill>
        </p:spPr>
      </p:sp>
      <p:sp>
        <p:nvSpPr>
          <p:cNvPr id="23" name="Text 19"/>
          <p:cNvSpPr txBox="1"/>
          <p:nvPr/>
        </p:nvSpPr>
        <p:spPr>
          <a:xfrm>
            <a:off x="7223760" y="4023360"/>
            <a:ext cx="1463040" cy="457200"/>
          </a:xfrm>
          <a:prstGeom prst="rect">
            <a:avLst/>
          </a:prstGeom>
          <a:noFill/>
        </p:spPr>
        <p:txBody>
          <a:bodyPr wrap="square" lIns="0" tIns="0" rIns="0" bIns="0" rtlCol="0" anchor="ctr"/>
          <a:lstStyle/>
          <a:p>
            <a:pPr marL="0" indent="0" algn="ctr">
              <a:buNone/>
            </a:pPr>
            <a:r>
              <a:rPr lang="en-US" sz="1400" b="1" dirty="0">
                <a:solidFill>
                  <a:schemeClr val="tx1"/>
                </a:solidFill>
              </a:rPr>
              <a:t>Inter-hand: 6</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Two classifiers, one winner</a:t>
            </a:r>
            <a:endParaRPr lang="en-US" sz="3000" dirty="0"/>
          </a:p>
        </p:txBody>
      </p:sp>
      <p:sp>
        <p:nvSpPr>
          <p:cNvPr id="4" name="Classifier card 1"/>
          <p:cNvSpPr/>
          <p:nvPr/>
        </p:nvSpPr>
        <p:spPr>
          <a:xfrm>
            <a:off x="457200" y="1188720"/>
            <a:ext cx="4023360" cy="3291840"/>
          </a:xfrm>
          <a:prstGeom prst="roundRect">
            <a:avLst>
              <a:gd name="adj" fmla="val 2222"/>
            </a:avLst>
          </a:prstGeom>
          <a:solidFill>
            <a:schemeClr val="bg2"/>
          </a:solidFill>
        </p:spPr>
      </p:sp>
      <p:sp>
        <p:nvSpPr>
          <p:cNvPr id="5" name="Text 2"/>
          <p:cNvSpPr txBox="1"/>
          <p:nvPr/>
        </p:nvSpPr>
        <p:spPr>
          <a:xfrm>
            <a:off x="685800" y="1325880"/>
            <a:ext cx="2377440" cy="365760"/>
          </a:xfrm>
          <a:prstGeom prst="rect">
            <a:avLst/>
          </a:prstGeom>
          <a:noFill/>
        </p:spPr>
        <p:txBody>
          <a:bodyPr wrap="square" lIns="0" tIns="0" rIns="0" bIns="0" rtlCol="0" anchor="ctr"/>
          <a:lstStyle/>
          <a:p>
            <a:pPr marL="0" indent="0">
              <a:buNone/>
            </a:pPr>
            <a:r>
              <a:rPr lang="en-US" sz="2000" b="1" dirty="0">
                <a:solidFill>
                  <a:schemeClr val="tx1"/>
                </a:solidFill>
              </a:rPr>
              <a:t>Random Forest</a:t>
            </a:r>
            <a:endParaRPr lang="en-US" sz="2000" dirty="0"/>
          </a:p>
        </p:txBody>
      </p:sp>
      <p:sp>
        <p:nvSpPr>
          <p:cNvPr id="6" name="Tag 1"/>
          <p:cNvSpPr/>
          <p:nvPr/>
        </p:nvSpPr>
        <p:spPr>
          <a:xfrm>
            <a:off x="3246120" y="1344168"/>
            <a:ext cx="1005840" cy="329184"/>
          </a:xfrm>
          <a:prstGeom prst="roundRect">
            <a:avLst>
              <a:gd name="adj" fmla="val 27778"/>
            </a:avLst>
          </a:prstGeom>
          <a:solidFill>
            <a:schemeClr val="accent1"/>
          </a:solidFill>
        </p:spPr>
      </p:sp>
      <p:sp>
        <p:nvSpPr>
          <p:cNvPr id="7" name="Text 4"/>
          <p:cNvSpPr txBox="1"/>
          <p:nvPr/>
        </p:nvSpPr>
        <p:spPr>
          <a:xfrm>
            <a:off x="3246120" y="1344168"/>
            <a:ext cx="1005840" cy="329184"/>
          </a:xfrm>
          <a:prstGeom prst="rect">
            <a:avLst/>
          </a:prstGeom>
          <a:noFill/>
        </p:spPr>
        <p:txBody>
          <a:bodyPr wrap="square" lIns="0" tIns="0" rIns="0" bIns="0" rtlCol="0" anchor="ctr"/>
          <a:lstStyle/>
          <a:p>
            <a:pPr marL="0" indent="0" algn="ctr">
              <a:buNone/>
            </a:pPr>
            <a:r>
              <a:rPr lang="en-US" sz="1400" b="1" dirty="0">
                <a:solidFill>
                  <a:schemeClr val="tx1"/>
                </a:solidFill>
              </a:rPr>
              <a:t>Deployed</a:t>
            </a:r>
            <a:endParaRPr lang="en-US" sz="1400" dirty="0"/>
          </a:p>
        </p:txBody>
      </p:sp>
      <p:sp>
        <p:nvSpPr>
          <p:cNvPr id="8" name="Text 5"/>
          <p:cNvSpPr txBox="1"/>
          <p:nvPr/>
        </p:nvSpPr>
        <p:spPr>
          <a:xfrm>
            <a:off x="685800" y="1874520"/>
            <a:ext cx="1737360" cy="548640"/>
          </a:xfrm>
          <a:prstGeom prst="rect">
            <a:avLst/>
          </a:prstGeom>
          <a:noFill/>
        </p:spPr>
        <p:txBody>
          <a:bodyPr wrap="square" lIns="0" tIns="0" rIns="0" bIns="0" rtlCol="0" anchor="t"/>
          <a:lstStyle/>
          <a:p>
            <a:pPr marL="0" indent="0">
              <a:buNone/>
            </a:pPr>
            <a:r>
              <a:rPr lang="en-US" sz="3600" b="1" dirty="0">
                <a:solidFill>
                  <a:schemeClr val="tx2"/>
                </a:solidFill>
              </a:rPr>
              <a:t>100</a:t>
            </a:r>
            <a:endParaRPr lang="en-US" sz="3600" dirty="0"/>
          </a:p>
        </p:txBody>
      </p:sp>
      <p:sp>
        <p:nvSpPr>
          <p:cNvPr id="9" name="Text 6"/>
          <p:cNvSpPr txBox="1"/>
          <p:nvPr/>
        </p:nvSpPr>
        <p:spPr>
          <a:xfrm>
            <a:off x="685800" y="2423160"/>
            <a:ext cx="1737360" cy="274320"/>
          </a:xfrm>
          <a:prstGeom prst="rect">
            <a:avLst/>
          </a:prstGeom>
          <a:noFill/>
        </p:spPr>
        <p:txBody>
          <a:bodyPr wrap="square" lIns="0" tIns="0" rIns="0" bIns="0" rtlCol="0" anchor="t"/>
          <a:lstStyle/>
          <a:p>
            <a:pPr marL="0" indent="0">
              <a:buNone/>
            </a:pPr>
            <a:r>
              <a:rPr lang="en-US" sz="1400" dirty="0">
                <a:solidFill>
                  <a:schemeClr val="accent6"/>
                </a:solidFill>
              </a:rPr>
              <a:t>decision trees</a:t>
            </a:r>
            <a:endParaRPr lang="en-US" sz="1400" dirty="0"/>
          </a:p>
        </p:txBody>
      </p:sp>
      <p:sp>
        <p:nvSpPr>
          <p:cNvPr id="10" name="Text 7"/>
          <p:cNvSpPr txBox="1"/>
          <p:nvPr/>
        </p:nvSpPr>
        <p:spPr>
          <a:xfrm>
            <a:off x="2560320" y="1874520"/>
            <a:ext cx="1737360" cy="548640"/>
          </a:xfrm>
          <a:prstGeom prst="rect">
            <a:avLst/>
          </a:prstGeom>
          <a:noFill/>
        </p:spPr>
        <p:txBody>
          <a:bodyPr wrap="square" lIns="0" tIns="0" rIns="0" bIns="0" rtlCol="0" anchor="t"/>
          <a:lstStyle/>
          <a:p>
            <a:pPr marL="0" indent="0">
              <a:buNone/>
            </a:pPr>
            <a:r>
              <a:rPr lang="en-US" sz="3600" b="1" dirty="0">
                <a:solidFill>
                  <a:schemeClr val="tx2"/>
                </a:solidFill>
              </a:rPr>
              <a:t>1.2 ms</a:t>
            </a:r>
            <a:endParaRPr lang="en-US" sz="3600" dirty="0"/>
          </a:p>
        </p:txBody>
      </p:sp>
      <p:sp>
        <p:nvSpPr>
          <p:cNvPr id="11" name="Text 8"/>
          <p:cNvSpPr txBox="1"/>
          <p:nvPr/>
        </p:nvSpPr>
        <p:spPr>
          <a:xfrm>
            <a:off x="2560320" y="2423160"/>
            <a:ext cx="1737360" cy="274320"/>
          </a:xfrm>
          <a:prstGeom prst="rect">
            <a:avLst/>
          </a:prstGeom>
          <a:noFill/>
        </p:spPr>
        <p:txBody>
          <a:bodyPr wrap="square" lIns="0" tIns="0" rIns="0" bIns="0" rtlCol="0" anchor="t"/>
          <a:lstStyle/>
          <a:p>
            <a:pPr marL="0" indent="0">
              <a:buNone/>
            </a:pPr>
            <a:r>
              <a:rPr lang="en-US" sz="1400" dirty="0">
                <a:solidFill>
                  <a:schemeClr val="accent6"/>
                </a:solidFill>
              </a:rPr>
              <a:t>inference</a:t>
            </a:r>
            <a:endParaRPr lang="en-US" sz="1400" dirty="0"/>
          </a:p>
        </p:txBody>
      </p:sp>
      <p:sp>
        <p:nvSpPr>
          <p:cNvPr id="12" name="Text 9"/>
          <p:cNvSpPr txBox="1"/>
          <p:nvPr/>
        </p:nvSpPr>
        <p:spPr>
          <a:xfrm>
            <a:off x="685800" y="3063240"/>
            <a:ext cx="3566160" cy="1097280"/>
          </a:xfrm>
          <a:prstGeom prst="rect">
            <a:avLst/>
          </a:prstGeom>
          <a:noFill/>
        </p:spPr>
        <p:txBody>
          <a:bodyPr wrap="square" lIns="0" tIns="0" rIns="0" bIns="0" rtlCol="0" anchor="t"/>
          <a:lstStyle/>
          <a:p>
            <a:pPr marL="342900" indent="-342900">
              <a:spcAft>
                <a:spcPts val="800"/>
              </a:spcAft>
              <a:buSzPct val="100000"/>
              <a:buChar char="•"/>
            </a:pPr>
            <a:r>
              <a:rPr lang="en-US" sz="1600" dirty="0">
                <a:solidFill>
                  <a:schemeClr val="tx1"/>
                </a:solidFill>
              </a:rPr>
              <a:t>Mean of 100 tree probabilities</a:t>
            </a:r>
            <a:endParaRPr lang="en-US" sz="1600" dirty="0"/>
          </a:p>
          <a:p>
            <a:pPr marL="342900" indent="-342900">
              <a:spcAft>
                <a:spcPts val="800"/>
              </a:spcAft>
              <a:buSzPct val="100000"/>
              <a:buChar char="•"/>
            </a:pPr>
            <a:r>
              <a:rPr lang="en-US" sz="1600" dirty="0">
                <a:solidFill>
                  <a:schemeClr val="tx1"/>
                </a:solidFill>
              </a:rPr>
              <a:t>Robust to feature scale</a:t>
            </a:r>
            <a:endParaRPr lang="en-US" sz="1600" dirty="0"/>
          </a:p>
        </p:txBody>
      </p:sp>
      <p:sp>
        <p:nvSpPr>
          <p:cNvPr id="13" name="Classifier card 2"/>
          <p:cNvSpPr/>
          <p:nvPr/>
        </p:nvSpPr>
        <p:spPr>
          <a:xfrm>
            <a:off x="4663440" y="1188720"/>
            <a:ext cx="4023360" cy="3291840"/>
          </a:xfrm>
          <a:prstGeom prst="roundRect">
            <a:avLst>
              <a:gd name="adj" fmla="val 2222"/>
            </a:avLst>
          </a:prstGeom>
          <a:solidFill>
            <a:schemeClr val="bg2"/>
          </a:solidFill>
        </p:spPr>
      </p:sp>
      <p:sp>
        <p:nvSpPr>
          <p:cNvPr id="14" name="Text 11"/>
          <p:cNvSpPr txBox="1"/>
          <p:nvPr/>
        </p:nvSpPr>
        <p:spPr>
          <a:xfrm>
            <a:off x="4892040" y="1325880"/>
            <a:ext cx="2377440" cy="365760"/>
          </a:xfrm>
          <a:prstGeom prst="rect">
            <a:avLst/>
          </a:prstGeom>
          <a:noFill/>
        </p:spPr>
        <p:txBody>
          <a:bodyPr wrap="square" lIns="0" tIns="0" rIns="0" bIns="0" rtlCol="0" anchor="ctr"/>
          <a:lstStyle/>
          <a:p>
            <a:pPr marL="0" indent="0">
              <a:buNone/>
            </a:pPr>
            <a:r>
              <a:rPr lang="en-US" sz="2000" b="1" dirty="0">
                <a:solidFill>
                  <a:schemeClr val="tx1"/>
                </a:solidFill>
              </a:rPr>
              <a:t>MLP baseline</a:t>
            </a:r>
            <a:endParaRPr lang="en-US" sz="2000" dirty="0"/>
          </a:p>
        </p:txBody>
      </p:sp>
      <p:sp>
        <p:nvSpPr>
          <p:cNvPr id="15" name="Tag 2"/>
          <p:cNvSpPr/>
          <p:nvPr/>
        </p:nvSpPr>
        <p:spPr>
          <a:xfrm>
            <a:off x="7452360" y="1344168"/>
            <a:ext cx="1005840" cy="329184"/>
          </a:xfrm>
          <a:prstGeom prst="roundRect">
            <a:avLst>
              <a:gd name="adj" fmla="val 27778"/>
            </a:avLst>
          </a:prstGeom>
          <a:solidFill>
            <a:schemeClr val="accent6"/>
          </a:solidFill>
        </p:spPr>
      </p:sp>
      <p:sp>
        <p:nvSpPr>
          <p:cNvPr id="16" name="Text 13"/>
          <p:cNvSpPr txBox="1"/>
          <p:nvPr/>
        </p:nvSpPr>
        <p:spPr>
          <a:xfrm>
            <a:off x="7452360" y="1344168"/>
            <a:ext cx="1005840" cy="329184"/>
          </a:xfrm>
          <a:prstGeom prst="rect">
            <a:avLst/>
          </a:prstGeom>
          <a:noFill/>
        </p:spPr>
        <p:txBody>
          <a:bodyPr wrap="square" lIns="0" tIns="0" rIns="0" bIns="0" rtlCol="0" anchor="ctr"/>
          <a:lstStyle/>
          <a:p>
            <a:pPr marL="0" indent="0" algn="ctr">
              <a:buNone/>
            </a:pPr>
            <a:r>
              <a:rPr lang="en-US" sz="1400" b="1" dirty="0">
                <a:solidFill>
                  <a:schemeClr val="bg1"/>
                </a:solidFill>
              </a:rPr>
              <a:t>Baseline</a:t>
            </a:r>
            <a:endParaRPr lang="en-US" sz="1400" dirty="0"/>
          </a:p>
        </p:txBody>
      </p:sp>
      <p:sp>
        <p:nvSpPr>
          <p:cNvPr id="17" name="Text 14"/>
          <p:cNvSpPr txBox="1"/>
          <p:nvPr/>
        </p:nvSpPr>
        <p:spPr>
          <a:xfrm>
            <a:off x="4892040" y="1874520"/>
            <a:ext cx="1737360" cy="548640"/>
          </a:xfrm>
          <a:prstGeom prst="rect">
            <a:avLst/>
          </a:prstGeom>
          <a:noFill/>
        </p:spPr>
        <p:txBody>
          <a:bodyPr wrap="square" lIns="0" tIns="0" rIns="0" bIns="0" rtlCol="0" anchor="t"/>
          <a:lstStyle/>
          <a:p>
            <a:pPr marL="0" indent="0">
              <a:buNone/>
            </a:pPr>
            <a:r>
              <a:rPr lang="en-US" sz="3600" b="1" dirty="0">
                <a:solidFill>
                  <a:schemeClr val="tx2"/>
                </a:solidFill>
              </a:rPr>
              <a:t>128-64</a:t>
            </a:r>
            <a:endParaRPr lang="en-US" sz="3600" dirty="0"/>
          </a:p>
        </p:txBody>
      </p:sp>
      <p:sp>
        <p:nvSpPr>
          <p:cNvPr id="18" name="Text 15"/>
          <p:cNvSpPr txBox="1"/>
          <p:nvPr/>
        </p:nvSpPr>
        <p:spPr>
          <a:xfrm>
            <a:off x="4892040" y="2423160"/>
            <a:ext cx="1737360" cy="274320"/>
          </a:xfrm>
          <a:prstGeom prst="rect">
            <a:avLst/>
          </a:prstGeom>
          <a:noFill/>
        </p:spPr>
        <p:txBody>
          <a:bodyPr wrap="square" lIns="0" tIns="0" rIns="0" bIns="0" rtlCol="0" anchor="t"/>
          <a:lstStyle/>
          <a:p>
            <a:pPr marL="0" indent="0">
              <a:buNone/>
            </a:pPr>
            <a:r>
              <a:rPr lang="en-US" sz="1400" dirty="0">
                <a:solidFill>
                  <a:schemeClr val="accent6"/>
                </a:solidFill>
              </a:rPr>
              <a:t>hidden units</a:t>
            </a:r>
            <a:endParaRPr lang="en-US" sz="1400" dirty="0"/>
          </a:p>
        </p:txBody>
      </p:sp>
      <p:sp>
        <p:nvSpPr>
          <p:cNvPr id="19" name="Text 16"/>
          <p:cNvSpPr txBox="1"/>
          <p:nvPr/>
        </p:nvSpPr>
        <p:spPr>
          <a:xfrm>
            <a:off x="6766560" y="1874520"/>
            <a:ext cx="1737360" cy="548640"/>
          </a:xfrm>
          <a:prstGeom prst="rect">
            <a:avLst/>
          </a:prstGeom>
          <a:noFill/>
        </p:spPr>
        <p:txBody>
          <a:bodyPr wrap="square" lIns="0" tIns="0" rIns="0" bIns="0" rtlCol="0" anchor="t"/>
          <a:lstStyle/>
          <a:p>
            <a:pPr marL="0" indent="0">
              <a:buNone/>
            </a:pPr>
            <a:r>
              <a:rPr lang="en-US" sz="3600" b="1" dirty="0">
                <a:solidFill>
                  <a:schemeClr val="tx2"/>
                </a:solidFill>
              </a:rPr>
              <a:t>3.4 ms</a:t>
            </a:r>
            <a:endParaRPr lang="en-US" sz="3600" dirty="0"/>
          </a:p>
        </p:txBody>
      </p:sp>
      <p:sp>
        <p:nvSpPr>
          <p:cNvPr id="20" name="Text 17"/>
          <p:cNvSpPr txBox="1"/>
          <p:nvPr/>
        </p:nvSpPr>
        <p:spPr>
          <a:xfrm>
            <a:off x="6766560" y="2423160"/>
            <a:ext cx="1737360" cy="274320"/>
          </a:xfrm>
          <a:prstGeom prst="rect">
            <a:avLst/>
          </a:prstGeom>
          <a:noFill/>
        </p:spPr>
        <p:txBody>
          <a:bodyPr wrap="square" lIns="0" tIns="0" rIns="0" bIns="0" rtlCol="0" anchor="t"/>
          <a:lstStyle/>
          <a:p>
            <a:pPr marL="0" indent="0">
              <a:buNone/>
            </a:pPr>
            <a:r>
              <a:rPr lang="en-US" sz="1400" dirty="0">
                <a:solidFill>
                  <a:schemeClr val="accent6"/>
                </a:solidFill>
              </a:rPr>
              <a:t>inference</a:t>
            </a:r>
            <a:endParaRPr lang="en-US" sz="1400" dirty="0"/>
          </a:p>
        </p:txBody>
      </p:sp>
      <p:sp>
        <p:nvSpPr>
          <p:cNvPr id="21" name="Text 18"/>
          <p:cNvSpPr txBox="1"/>
          <p:nvPr/>
        </p:nvSpPr>
        <p:spPr>
          <a:xfrm>
            <a:off x="4892040" y="3063240"/>
            <a:ext cx="3566160" cy="1097280"/>
          </a:xfrm>
          <a:prstGeom prst="rect">
            <a:avLst/>
          </a:prstGeom>
          <a:noFill/>
        </p:spPr>
        <p:txBody>
          <a:bodyPr wrap="square" lIns="0" tIns="0" rIns="0" bIns="0" rtlCol="0" anchor="t"/>
          <a:lstStyle/>
          <a:p>
            <a:pPr marL="342900" indent="-342900">
              <a:spcAft>
                <a:spcPts val="800"/>
              </a:spcAft>
              <a:buSzPct val="100000"/>
              <a:buChar char="•"/>
            </a:pPr>
            <a:r>
              <a:rPr lang="en-US" sz="1600" dirty="0">
                <a:solidFill>
                  <a:schemeClr val="tx1"/>
                </a:solidFill>
              </a:rPr>
              <a:t>Batch norm and dropout 0.2</a:t>
            </a:r>
            <a:endParaRPr lang="en-US" sz="1600" dirty="0"/>
          </a:p>
          <a:p>
            <a:pPr marL="342900" indent="-342900">
              <a:spcAft>
                <a:spcPts val="800"/>
              </a:spcAft>
              <a:buSzPct val="100000"/>
              <a:buChar char="•"/>
            </a:pPr>
            <a:r>
              <a:rPr lang="en-US" sz="1600" dirty="0">
                <a:solidFill>
                  <a:schemeClr val="tx1"/>
                </a:solidFill>
              </a:rPr>
              <a:t>Adam, lr 1e-3, 50 epochs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Hold-to-confirm kills the flicker</a:t>
            </a:r>
            <a:endParaRPr lang="en-US" sz="3000" dirty="0"/>
          </a:p>
        </p:txBody>
      </p:sp>
      <p:sp>
        <p:nvSpPr>
          <p:cNvPr id="4" name="Hysteresis step card 1"/>
          <p:cNvSpPr/>
          <p:nvPr/>
        </p:nvSpPr>
        <p:spPr>
          <a:xfrm>
            <a:off x="457200" y="1188720"/>
            <a:ext cx="3931920" cy="731520"/>
          </a:xfrm>
          <a:prstGeom prst="roundRect">
            <a:avLst>
              <a:gd name="adj" fmla="val 10000"/>
            </a:avLst>
          </a:prstGeom>
          <a:solidFill>
            <a:schemeClr val="bg2"/>
          </a:solidFill>
        </p:spPr>
      </p:sp>
      <p:sp>
        <p:nvSpPr>
          <p:cNvPr id="5" name="Step 1"/>
          <p:cNvSpPr/>
          <p:nvPr/>
        </p:nvSpPr>
        <p:spPr>
          <a:xfrm>
            <a:off x="594360" y="1325880"/>
            <a:ext cx="457200" cy="457200"/>
          </a:xfrm>
          <a:prstGeom prst="ellipse">
            <a:avLst/>
          </a:prstGeom>
          <a:solidFill>
            <a:schemeClr val="tx2"/>
          </a:solidFill>
        </p:spPr>
      </p:sp>
      <p:sp>
        <p:nvSpPr>
          <p:cNvPr id="6" name="Text 3"/>
          <p:cNvSpPr txBox="1"/>
          <p:nvPr/>
        </p:nvSpPr>
        <p:spPr>
          <a:xfrm>
            <a:off x="594360" y="1325880"/>
            <a:ext cx="457200" cy="457200"/>
          </a:xfrm>
          <a:prstGeom prst="rect">
            <a:avLst/>
          </a:prstGeom>
          <a:noFill/>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234440" y="1188720"/>
            <a:ext cx="3063240" cy="731520"/>
          </a:xfrm>
          <a:prstGeom prst="rect">
            <a:avLst/>
          </a:prstGeom>
          <a:noFill/>
        </p:spPr>
        <p:txBody>
          <a:bodyPr wrap="square" lIns="0" tIns="0" rIns="0" bIns="0" rtlCol="0" anchor="ctr"/>
          <a:lstStyle/>
          <a:p>
            <a:pPr marL="0" indent="0">
              <a:buNone/>
            </a:pPr>
            <a:r>
              <a:rPr lang="en-US" sz="1600" b="1" dirty="0">
                <a:solidFill>
                  <a:schemeClr val="tx1"/>
                </a:solidFill>
              </a:rPr>
              <a:t>Classify each frame</a:t>
            </a:r>
            <a:endParaRPr lang="en-US" sz="1600" dirty="0"/>
          </a:p>
          <a:p>
            <a:pPr marL="0" indent="0">
              <a:buNone/>
            </a:pPr>
            <a:r>
              <a:rPr lang="en-US" sz="1400" dirty="0">
                <a:solidFill>
                  <a:schemeClr val="tx1"/>
                </a:solidFill>
              </a:rPr>
              <a:t>Raw predictions jitter between signs</a:t>
            </a:r>
            <a:endParaRPr lang="en-US" sz="1600" dirty="0"/>
          </a:p>
        </p:txBody>
      </p:sp>
      <p:sp>
        <p:nvSpPr>
          <p:cNvPr id="8" name="Hysteresis step card 2"/>
          <p:cNvSpPr/>
          <p:nvPr/>
        </p:nvSpPr>
        <p:spPr>
          <a:xfrm>
            <a:off x="457200" y="2011680"/>
            <a:ext cx="3931920" cy="731520"/>
          </a:xfrm>
          <a:prstGeom prst="roundRect">
            <a:avLst>
              <a:gd name="adj" fmla="val 10000"/>
            </a:avLst>
          </a:prstGeom>
          <a:solidFill>
            <a:schemeClr val="bg2"/>
          </a:solidFill>
        </p:spPr>
      </p:sp>
      <p:sp>
        <p:nvSpPr>
          <p:cNvPr id="9" name="Step 2"/>
          <p:cNvSpPr/>
          <p:nvPr/>
        </p:nvSpPr>
        <p:spPr>
          <a:xfrm>
            <a:off x="594360" y="2148840"/>
            <a:ext cx="457200" cy="457200"/>
          </a:xfrm>
          <a:prstGeom prst="ellipse">
            <a:avLst/>
          </a:prstGeom>
          <a:solidFill>
            <a:schemeClr val="tx2"/>
          </a:solidFill>
        </p:spPr>
      </p:sp>
      <p:sp>
        <p:nvSpPr>
          <p:cNvPr id="10" name="Text 7"/>
          <p:cNvSpPr txBox="1"/>
          <p:nvPr/>
        </p:nvSpPr>
        <p:spPr>
          <a:xfrm>
            <a:off x="594360" y="2148840"/>
            <a:ext cx="457200" cy="457200"/>
          </a:xfrm>
          <a:prstGeom prst="rect">
            <a:avLst/>
          </a:prstGeom>
          <a:noFill/>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234440" y="2011680"/>
            <a:ext cx="3063240" cy="731520"/>
          </a:xfrm>
          <a:prstGeom prst="rect">
            <a:avLst/>
          </a:prstGeom>
          <a:noFill/>
        </p:spPr>
        <p:txBody>
          <a:bodyPr wrap="square" lIns="0" tIns="0" rIns="0" bIns="0" rtlCol="0" anchor="ctr"/>
          <a:lstStyle/>
          <a:p>
            <a:pPr marL="0" indent="0">
              <a:buNone/>
            </a:pPr>
            <a:r>
              <a:rPr lang="en-US" sz="1600" b="1" dirty="0">
                <a:solidFill>
                  <a:schemeClr val="tx1"/>
                </a:solidFill>
              </a:rPr>
              <a:t>Check confidence</a:t>
            </a:r>
            <a:endParaRPr lang="en-US" sz="1600" dirty="0"/>
          </a:p>
          <a:p>
            <a:pPr marL="0" indent="0">
              <a:buNone/>
            </a:pPr>
            <a:r>
              <a:rPr lang="en-US" sz="1400" dirty="0">
                <a:solidFill>
                  <a:schemeClr val="tx1"/>
                </a:solidFill>
              </a:rPr>
              <a:t>P(y = c) must stay at or above 0.85</a:t>
            </a:r>
            <a:endParaRPr lang="en-US" sz="1600" dirty="0"/>
          </a:p>
        </p:txBody>
      </p:sp>
      <p:sp>
        <p:nvSpPr>
          <p:cNvPr id="12" name="Hysteresis step card 3"/>
          <p:cNvSpPr/>
          <p:nvPr/>
        </p:nvSpPr>
        <p:spPr>
          <a:xfrm>
            <a:off x="457200" y="2834640"/>
            <a:ext cx="3931920" cy="731520"/>
          </a:xfrm>
          <a:prstGeom prst="roundRect">
            <a:avLst>
              <a:gd name="adj" fmla="val 10000"/>
            </a:avLst>
          </a:prstGeom>
          <a:solidFill>
            <a:schemeClr val="bg2"/>
          </a:solidFill>
        </p:spPr>
      </p:sp>
      <p:sp>
        <p:nvSpPr>
          <p:cNvPr id="13" name="Step 3"/>
          <p:cNvSpPr/>
          <p:nvPr/>
        </p:nvSpPr>
        <p:spPr>
          <a:xfrm>
            <a:off x="594360" y="2971800"/>
            <a:ext cx="457200" cy="457200"/>
          </a:xfrm>
          <a:prstGeom prst="ellipse">
            <a:avLst/>
          </a:prstGeom>
          <a:solidFill>
            <a:schemeClr val="tx2"/>
          </a:solidFill>
        </p:spPr>
      </p:sp>
      <p:sp>
        <p:nvSpPr>
          <p:cNvPr id="14" name="Text 11"/>
          <p:cNvSpPr txBox="1"/>
          <p:nvPr/>
        </p:nvSpPr>
        <p:spPr>
          <a:xfrm>
            <a:off x="594360" y="2971800"/>
            <a:ext cx="457200" cy="457200"/>
          </a:xfrm>
          <a:prstGeom prst="rect">
            <a:avLst/>
          </a:prstGeom>
          <a:noFill/>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234440" y="2834640"/>
            <a:ext cx="3063240" cy="731520"/>
          </a:xfrm>
          <a:prstGeom prst="rect">
            <a:avLst/>
          </a:prstGeom>
          <a:noFill/>
        </p:spPr>
        <p:txBody>
          <a:bodyPr wrap="square" lIns="0" tIns="0" rIns="0" bIns="0" rtlCol="0" anchor="ctr"/>
          <a:lstStyle/>
          <a:p>
            <a:pPr marL="0" indent="0">
              <a:buNone/>
            </a:pPr>
            <a:r>
              <a:rPr lang="en-US" sz="1600" b="1" dirty="0">
                <a:solidFill>
                  <a:schemeClr val="tx1"/>
                </a:solidFill>
              </a:rPr>
              <a:t>Hold 1.5 seconds</a:t>
            </a:r>
            <a:endParaRPr lang="en-US" sz="1600" dirty="0"/>
          </a:p>
          <a:p>
            <a:pPr marL="0" indent="0">
              <a:buNone/>
            </a:pPr>
            <a:r>
              <a:rPr lang="en-US" sz="1400" dirty="0">
                <a:solidFill>
                  <a:schemeClr val="tx1"/>
                </a:solidFill>
              </a:rPr>
              <a:t>A progress bar fills while stable</a:t>
            </a:r>
            <a:endParaRPr lang="en-US" sz="1600" dirty="0"/>
          </a:p>
        </p:txBody>
      </p:sp>
      <p:sp>
        <p:nvSpPr>
          <p:cNvPr id="16" name="Hysteresis step card 4"/>
          <p:cNvSpPr/>
          <p:nvPr/>
        </p:nvSpPr>
        <p:spPr>
          <a:xfrm>
            <a:off x="457200" y="3657600"/>
            <a:ext cx="3931920" cy="731520"/>
          </a:xfrm>
          <a:prstGeom prst="roundRect">
            <a:avLst>
              <a:gd name="adj" fmla="val 10000"/>
            </a:avLst>
          </a:prstGeom>
          <a:solidFill>
            <a:schemeClr val="bg2"/>
          </a:solidFill>
        </p:spPr>
      </p:sp>
      <p:sp>
        <p:nvSpPr>
          <p:cNvPr id="17" name="Step 4"/>
          <p:cNvSpPr/>
          <p:nvPr/>
        </p:nvSpPr>
        <p:spPr>
          <a:xfrm>
            <a:off x="594360" y="3794760"/>
            <a:ext cx="457200" cy="457200"/>
          </a:xfrm>
          <a:prstGeom prst="ellipse">
            <a:avLst/>
          </a:prstGeom>
          <a:solidFill>
            <a:schemeClr val="tx2"/>
          </a:solidFill>
        </p:spPr>
      </p:sp>
      <p:sp>
        <p:nvSpPr>
          <p:cNvPr id="18" name="Text 15"/>
          <p:cNvSpPr txBox="1"/>
          <p:nvPr/>
        </p:nvSpPr>
        <p:spPr>
          <a:xfrm>
            <a:off x="594360" y="3794760"/>
            <a:ext cx="457200" cy="457200"/>
          </a:xfrm>
          <a:prstGeom prst="rect">
            <a:avLst/>
          </a:prstGeom>
          <a:noFill/>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234440" y="3657600"/>
            <a:ext cx="3063240" cy="731520"/>
          </a:xfrm>
          <a:prstGeom prst="rect">
            <a:avLst/>
          </a:prstGeom>
          <a:noFill/>
        </p:spPr>
        <p:txBody>
          <a:bodyPr wrap="square" lIns="0" tIns="0" rIns="0" bIns="0" rtlCol="0" anchor="ctr"/>
          <a:lstStyle/>
          <a:p>
            <a:pPr marL="0" indent="0">
              <a:buNone/>
            </a:pPr>
            <a:r>
              <a:rPr lang="en-US" sz="1600" b="1" dirty="0">
                <a:solidFill>
                  <a:schemeClr val="tx1"/>
                </a:solidFill>
              </a:rPr>
              <a:t>Commit and lock</a:t>
            </a:r>
            <a:endParaRPr lang="en-US" sz="1600" dirty="0"/>
          </a:p>
          <a:p>
            <a:pPr marL="0" indent="0">
              <a:buNone/>
            </a:pPr>
            <a:r>
              <a:rPr lang="en-US" sz="1400" dirty="0">
                <a:solidFill>
                  <a:schemeClr val="tx1"/>
                </a:solidFill>
              </a:rPr>
              <a:t>0.5 s lockout stops duplicates</a:t>
            </a:r>
            <a:endParaRPr lang="en-US" sz="1600" dirty="0"/>
          </a:p>
        </p:txBody>
      </p:sp>
      <p:graphicFrame>
        <p:nvGraphicFramePr>
          <p:cNvPr id="20" name="Chart 0"/>
          <p:cNvGraphicFramePr/>
          <p:nvPr/>
        </p:nvGraphicFramePr>
        <p:xfrm>
          <a:off x="4572000" y="1143000"/>
          <a:ext cx="4114800" cy="2834640"/>
        </p:xfrm>
        <a:graphic>
          <a:graphicData uri="http://schemas.openxmlformats.org/drawingml/2006/chart">
            <c:chart xmlns:c="http://schemas.openxmlformats.org/drawingml/2006/chart" xmlns:r="http://schemas.openxmlformats.org/officeDocument/2006/relationships" r:id="rId1"/>
          </a:graphicData>
        </a:graphic>
      </p:graphicFrame>
      <p:sp>
        <p:nvSpPr>
          <p:cNvPr id="21" name="Text 17"/>
          <p:cNvSpPr txBox="1"/>
          <p:nvPr/>
        </p:nvSpPr>
        <p:spPr>
          <a:xfrm>
            <a:off x="4572000" y="4023360"/>
            <a:ext cx="4114800" cy="457200"/>
          </a:xfrm>
          <a:prstGeom prst="rect">
            <a:avLst/>
          </a:prstGeom>
          <a:noFill/>
        </p:spPr>
        <p:txBody>
          <a:bodyPr wrap="square" lIns="0" tIns="0" rIns="0" bIns="0" rtlCol="0" anchor="t"/>
          <a:lstStyle/>
          <a:p>
            <a:pPr marL="0" indent="0">
              <a:buNone/>
            </a:pPr>
            <a:r>
              <a:rPr lang="en-US" sz="1400" dirty="0">
                <a:solidFill>
                  <a:schemeClr val="tx1"/>
                </a:solidFill>
              </a:rPr>
              <a:t>Typing speed falls from 32 to 16 chars/min at 1.5 s: the chosen trade-off.</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Reverse pathway: from speech to sign</a:t>
            </a:r>
            <a:endParaRPr lang="en-US" sz="3000" dirty="0"/>
          </a:p>
        </p:txBody>
      </p:sp>
      <p:pic>
        <p:nvPicPr>
          <p:cNvPr id="4" name="YouTube-to-sign figure" descr="YouTube-to-sign workflow: audio extraction, transcription, lexical matching, synchronized playback"/>
          <p:cNvPicPr>
            <a:picLocks noChangeAspect="1"/>
          </p:cNvPicPr>
          <p:nvPr/>
        </p:nvPicPr>
        <p:blipFill>
          <a:blip r:embed="rId1"/>
          <a:stretch>
            <a:fillRect/>
          </a:stretch>
        </p:blipFill>
        <p:spPr>
          <a:xfrm>
            <a:off x="457200" y="1188720"/>
            <a:ext cx="5029200" cy="2807208"/>
          </a:xfrm>
          <a:prstGeom prst="rect">
            <a:avLst/>
          </a:prstGeom>
        </p:spPr>
      </p:pic>
      <p:sp>
        <p:nvSpPr>
          <p:cNvPr id="5" name="Stat chip 1"/>
          <p:cNvSpPr/>
          <p:nvPr/>
        </p:nvSpPr>
        <p:spPr>
          <a:xfrm>
            <a:off x="457200" y="4114800"/>
            <a:ext cx="1600200" cy="365760"/>
          </a:xfrm>
          <a:prstGeom prst="roundRect">
            <a:avLst>
              <a:gd name="adj" fmla="val 25000"/>
            </a:avLst>
          </a:prstGeom>
          <a:solidFill>
            <a:schemeClr val="accent1"/>
          </a:solidFill>
        </p:spPr>
      </p:sp>
      <p:sp>
        <p:nvSpPr>
          <p:cNvPr id="6" name="Text 2"/>
          <p:cNvSpPr txBox="1"/>
          <p:nvPr/>
        </p:nvSpPr>
        <p:spPr>
          <a:xfrm>
            <a:off x="457200" y="4114800"/>
            <a:ext cx="1600200" cy="365760"/>
          </a:xfrm>
          <a:prstGeom prst="rect">
            <a:avLst/>
          </a:prstGeom>
          <a:noFill/>
        </p:spPr>
        <p:txBody>
          <a:bodyPr wrap="square" lIns="0" tIns="0" rIns="0" bIns="0" rtlCol="0" anchor="ctr"/>
          <a:lstStyle/>
          <a:p>
            <a:pPr marL="0" indent="0" algn="ctr">
              <a:buNone/>
            </a:pPr>
            <a:r>
              <a:rPr lang="en-US" sz="1400" b="1" dirty="0">
                <a:solidFill>
                  <a:schemeClr val="tx1"/>
                </a:solidFill>
              </a:rPr>
              <a:t>204 signs</a:t>
            </a:r>
            <a:endParaRPr lang="en-US" sz="1400" dirty="0"/>
          </a:p>
        </p:txBody>
      </p:sp>
      <p:sp>
        <p:nvSpPr>
          <p:cNvPr id="7" name="Stat chip 2"/>
          <p:cNvSpPr/>
          <p:nvPr/>
        </p:nvSpPr>
        <p:spPr>
          <a:xfrm>
            <a:off x="2171700" y="4114800"/>
            <a:ext cx="1600200" cy="365760"/>
          </a:xfrm>
          <a:prstGeom prst="roundRect">
            <a:avLst>
              <a:gd name="adj" fmla="val 25000"/>
            </a:avLst>
          </a:prstGeom>
          <a:solidFill>
            <a:schemeClr val="accent2"/>
          </a:solidFill>
        </p:spPr>
      </p:sp>
      <p:sp>
        <p:nvSpPr>
          <p:cNvPr id="8" name="Text 4"/>
          <p:cNvSpPr txBox="1"/>
          <p:nvPr/>
        </p:nvSpPr>
        <p:spPr>
          <a:xfrm>
            <a:off x="2171700" y="4114800"/>
            <a:ext cx="1600200" cy="365760"/>
          </a:xfrm>
          <a:prstGeom prst="rect">
            <a:avLst/>
          </a:prstGeom>
          <a:noFill/>
        </p:spPr>
        <p:txBody>
          <a:bodyPr wrap="square" lIns="0" tIns="0" rIns="0" bIns="0" rtlCol="0" anchor="ctr"/>
          <a:lstStyle/>
          <a:p>
            <a:pPr marL="0" indent="0" algn="ctr">
              <a:buNone/>
            </a:pPr>
            <a:r>
              <a:rPr lang="en-US" sz="1400" b="1" dirty="0">
                <a:solidFill>
                  <a:schemeClr val="tx1"/>
                </a:solidFill>
              </a:rPr>
              <a:t>203 videos</a:t>
            </a:r>
            <a:endParaRPr lang="en-US" sz="1400" dirty="0"/>
          </a:p>
        </p:txBody>
      </p:sp>
      <p:sp>
        <p:nvSpPr>
          <p:cNvPr id="9" name="Stat chip 3"/>
          <p:cNvSpPr/>
          <p:nvPr/>
        </p:nvSpPr>
        <p:spPr>
          <a:xfrm>
            <a:off x="3886200" y="4114800"/>
            <a:ext cx="1600200" cy="365760"/>
          </a:xfrm>
          <a:prstGeom prst="roundRect">
            <a:avLst>
              <a:gd name="adj" fmla="val 25000"/>
            </a:avLst>
          </a:prstGeom>
          <a:solidFill>
            <a:schemeClr val="accent4"/>
          </a:solidFill>
        </p:spPr>
      </p:sp>
      <p:sp>
        <p:nvSpPr>
          <p:cNvPr id="10" name="Text 6"/>
          <p:cNvSpPr txBox="1"/>
          <p:nvPr/>
        </p:nvSpPr>
        <p:spPr>
          <a:xfrm>
            <a:off x="3886200" y="4114800"/>
            <a:ext cx="1600200" cy="365760"/>
          </a:xfrm>
          <a:prstGeom prst="rect">
            <a:avLst/>
          </a:prstGeom>
          <a:noFill/>
        </p:spPr>
        <p:txBody>
          <a:bodyPr wrap="square" lIns="0" tIns="0" rIns="0" bIns="0" rtlCol="0" anchor="ctr"/>
          <a:lstStyle/>
          <a:p>
            <a:pPr marL="0" indent="0" algn="ctr">
              <a:buNone/>
            </a:pPr>
            <a:r>
              <a:rPr lang="en-US" sz="1400" b="1" dirty="0">
                <a:solidFill>
                  <a:schemeClr val="tx1"/>
                </a:solidFill>
              </a:rPr>
              <a:t>0.5-2.0x speed</a:t>
            </a:r>
            <a:endParaRPr lang="en-US" sz="1400" dirty="0"/>
          </a:p>
        </p:txBody>
      </p:sp>
      <p:sp>
        <p:nvSpPr>
          <p:cNvPr id="11" name="Mode card 1"/>
          <p:cNvSpPr/>
          <p:nvPr/>
        </p:nvSpPr>
        <p:spPr>
          <a:xfrm>
            <a:off x="5669280" y="1188720"/>
            <a:ext cx="3017520" cy="1005840"/>
          </a:xfrm>
          <a:prstGeom prst="roundRect">
            <a:avLst>
              <a:gd name="adj" fmla="val 7273"/>
            </a:avLst>
          </a:prstGeom>
          <a:solidFill>
            <a:schemeClr val="bg2"/>
          </a:solidFill>
        </p:spPr>
      </p:sp>
      <p:sp>
        <p:nvSpPr>
          <p:cNvPr id="12" name="Text 8"/>
          <p:cNvSpPr txBox="1"/>
          <p:nvPr/>
        </p:nvSpPr>
        <p:spPr>
          <a:xfrm>
            <a:off x="5852160" y="1188720"/>
            <a:ext cx="2697480" cy="1005840"/>
          </a:xfrm>
          <a:prstGeom prst="rect">
            <a:avLst/>
          </a:prstGeom>
          <a:noFill/>
        </p:spPr>
        <p:txBody>
          <a:bodyPr wrap="square" lIns="0" tIns="0" rIns="0" bIns="0" rtlCol="0" anchor="ctr"/>
          <a:lstStyle/>
          <a:p>
            <a:pPr marL="0" indent="0">
              <a:buNone/>
            </a:pPr>
            <a:r>
              <a:rPr lang="en-US" sz="1600" b="1" dirty="0">
                <a:solidFill>
                  <a:schemeClr val="tx1"/>
                </a:solidFill>
              </a:rPr>
              <a:t>Text-to-Sign</a:t>
            </a:r>
            <a:endParaRPr lang="en-US" sz="1600" dirty="0"/>
          </a:p>
          <a:p>
            <a:pPr marL="0" indent="0">
              <a:buNone/>
            </a:pPr>
            <a:r>
              <a:rPr lang="en-US" sz="1400" dirty="0">
                <a:solidFill>
                  <a:schemeClr val="tx1"/>
                </a:solidFill>
              </a:rPr>
              <a:t>Tokenize, match the dictionary, fingerspell the rest</a:t>
            </a:r>
            <a:endParaRPr lang="en-US" sz="1600" dirty="0"/>
          </a:p>
        </p:txBody>
      </p:sp>
      <p:sp>
        <p:nvSpPr>
          <p:cNvPr id="13" name="Mode card 2"/>
          <p:cNvSpPr/>
          <p:nvPr/>
        </p:nvSpPr>
        <p:spPr>
          <a:xfrm>
            <a:off x="5669280" y="2304288"/>
            <a:ext cx="3017520" cy="1005840"/>
          </a:xfrm>
          <a:prstGeom prst="roundRect">
            <a:avLst>
              <a:gd name="adj" fmla="val 7273"/>
            </a:avLst>
          </a:prstGeom>
          <a:solidFill>
            <a:schemeClr val="bg2"/>
          </a:solidFill>
        </p:spPr>
      </p:sp>
      <p:sp>
        <p:nvSpPr>
          <p:cNvPr id="14" name="Text 10"/>
          <p:cNvSpPr txBox="1"/>
          <p:nvPr/>
        </p:nvSpPr>
        <p:spPr>
          <a:xfrm>
            <a:off x="5852160" y="2304288"/>
            <a:ext cx="2697480" cy="1005840"/>
          </a:xfrm>
          <a:prstGeom prst="rect">
            <a:avLst/>
          </a:prstGeom>
          <a:noFill/>
        </p:spPr>
        <p:txBody>
          <a:bodyPr wrap="square" lIns="0" tIns="0" rIns="0" bIns="0" rtlCol="0" anchor="ctr"/>
          <a:lstStyle/>
          <a:p>
            <a:pPr marL="0" indent="0">
              <a:buNone/>
            </a:pPr>
            <a:r>
              <a:rPr lang="en-US" sz="1600" b="1" dirty="0">
                <a:solidFill>
                  <a:schemeClr val="tx1"/>
                </a:solidFill>
              </a:rPr>
              <a:t>Voice-to-Sign</a:t>
            </a:r>
            <a:endParaRPr lang="en-US" sz="1600" dirty="0"/>
          </a:p>
          <a:p>
            <a:pPr marL="0" indent="0">
              <a:buNone/>
            </a:pPr>
            <a:r>
              <a:rPr lang="en-US" sz="1400" dirty="0">
                <a:solidFill>
                  <a:schemeClr val="tx1"/>
                </a:solidFill>
              </a:rPr>
              <a:t>Web Speech API in English and Hindi</a:t>
            </a:r>
            <a:endParaRPr lang="en-US" sz="1600" dirty="0"/>
          </a:p>
        </p:txBody>
      </p:sp>
      <p:sp>
        <p:nvSpPr>
          <p:cNvPr id="15" name="Mode card 3"/>
          <p:cNvSpPr/>
          <p:nvPr/>
        </p:nvSpPr>
        <p:spPr>
          <a:xfrm>
            <a:off x="5669280" y="3419856"/>
            <a:ext cx="3017520" cy="1005840"/>
          </a:xfrm>
          <a:prstGeom prst="roundRect">
            <a:avLst>
              <a:gd name="adj" fmla="val 7273"/>
            </a:avLst>
          </a:prstGeom>
          <a:solidFill>
            <a:schemeClr val="bg2"/>
          </a:solidFill>
        </p:spPr>
      </p:sp>
      <p:sp>
        <p:nvSpPr>
          <p:cNvPr id="16" name="Text 12"/>
          <p:cNvSpPr txBox="1"/>
          <p:nvPr/>
        </p:nvSpPr>
        <p:spPr>
          <a:xfrm>
            <a:off x="5852160" y="3419856"/>
            <a:ext cx="2697480" cy="1005840"/>
          </a:xfrm>
          <a:prstGeom prst="rect">
            <a:avLst/>
          </a:prstGeom>
          <a:noFill/>
        </p:spPr>
        <p:txBody>
          <a:bodyPr wrap="square" lIns="0" tIns="0" rIns="0" bIns="0" rtlCol="0" anchor="ctr"/>
          <a:lstStyle/>
          <a:p>
            <a:pPr marL="0" indent="0">
              <a:buNone/>
            </a:pPr>
            <a:r>
              <a:rPr lang="en-US" sz="1600" b="1" dirty="0">
                <a:solidFill>
                  <a:schemeClr val="tx1"/>
                </a:solidFill>
              </a:rPr>
              <a:t>YouTube-to-Sign</a:t>
            </a:r>
            <a:endParaRPr lang="en-US" sz="1600" dirty="0"/>
          </a:p>
          <a:p>
            <a:pPr marL="0" indent="0">
              <a:buNone/>
            </a:pPr>
            <a:r>
              <a:rPr lang="en-US" sz="1400" dirty="0">
                <a:solidFill>
                  <a:schemeClr val="tx1"/>
                </a:solidFill>
              </a:rPr>
              <a:t>yt-dlp audio, Deepgram Nova-2 timestamps, synced clips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A seven-module web platform</a:t>
            </a:r>
            <a:endParaRPr lang="en-US" sz="3000" dirty="0"/>
          </a:p>
        </p:txBody>
      </p:sp>
      <p:sp>
        <p:nvSpPr>
          <p:cNvPr id="4" name="Modules card"/>
          <p:cNvSpPr/>
          <p:nvPr/>
        </p:nvSpPr>
        <p:spPr>
          <a:xfrm>
            <a:off x="457200" y="1188720"/>
            <a:ext cx="4846320" cy="3291840"/>
          </a:xfrm>
          <a:prstGeom prst="roundRect">
            <a:avLst>
              <a:gd name="adj" fmla="val 2222"/>
            </a:avLst>
          </a:prstGeom>
          <a:solidFill>
            <a:schemeClr val="bg2"/>
          </a:solidFill>
        </p:spPr>
      </p:sp>
      <p:sp>
        <p:nvSpPr>
          <p:cNvPr id="5" name="Module icon 1 circle"/>
          <p:cNvSpPr/>
          <p:nvPr/>
        </p:nvSpPr>
        <p:spPr>
          <a:xfrm>
            <a:off x="640080" y="1298448"/>
            <a:ext cx="347472" cy="347472"/>
          </a:xfrm>
          <a:prstGeom prst="ellipse">
            <a:avLst/>
          </a:prstGeom>
          <a:solidFill>
            <a:schemeClr val="accent1"/>
          </a:solidFill>
        </p:spPr>
      </p:sp>
      <p:pic>
        <p:nvPicPr>
          <p:cNvPr id="6" name="Module icon 1" descr="Module icon 1"/>
          <p:cNvPicPr>
            <a:picLocks noChangeAspect="1"/>
          </p:cNvPicPr>
          <p:nvPr/>
        </p:nvPicPr>
        <p:blipFill>
          <a:blip r:embed="rId1"/>
          <a:stretch>
            <a:fillRect/>
          </a:stretch>
        </p:blipFill>
        <p:spPr>
          <a:xfrm>
            <a:off x="723473" y="1381841"/>
            <a:ext cx="180685" cy="180685"/>
          </a:xfrm>
          <a:prstGeom prst="rect">
            <a:avLst/>
          </a:prstGeom>
        </p:spPr>
      </p:pic>
      <p:sp>
        <p:nvSpPr>
          <p:cNvPr id="7" name="Text 3"/>
          <p:cNvSpPr txBox="1"/>
          <p:nvPr/>
        </p:nvSpPr>
        <p:spPr>
          <a:xfrm>
            <a:off x="1143000" y="1298448"/>
            <a:ext cx="4069080" cy="347472"/>
          </a:xfrm>
          <a:prstGeom prst="rect">
            <a:avLst/>
          </a:prstGeom>
          <a:noFill/>
        </p:spPr>
        <p:txBody>
          <a:bodyPr wrap="square" lIns="0" tIns="0" rIns="0" bIns="0" rtlCol="0" anchor="ctr"/>
          <a:lstStyle/>
          <a:p>
            <a:pPr marL="0" indent="0">
              <a:buNone/>
            </a:pPr>
            <a:r>
              <a:rPr lang="en-US" sz="1400" b="1" dirty="0">
                <a:solidFill>
                  <a:schemeClr val="tx1"/>
                </a:solidFill>
              </a:rPr>
              <a:t>Sign-to-Text</a:t>
            </a:r>
            <a:r>
              <a:rPr lang="en-US" sz="1400" dirty="0">
                <a:solidFill>
                  <a:schemeClr val="accent6"/>
                </a:solidFill>
              </a:rPr>
              <a:t>  camera, skeleton, speech</a:t>
            </a:r>
            <a:endParaRPr lang="en-US" sz="1400" dirty="0"/>
          </a:p>
        </p:txBody>
      </p:sp>
      <p:sp>
        <p:nvSpPr>
          <p:cNvPr id="8" name="Module icon 2 circle"/>
          <p:cNvSpPr/>
          <p:nvPr/>
        </p:nvSpPr>
        <p:spPr>
          <a:xfrm>
            <a:off x="640080" y="1755648"/>
            <a:ext cx="347472" cy="347472"/>
          </a:xfrm>
          <a:prstGeom prst="ellipse">
            <a:avLst/>
          </a:prstGeom>
          <a:solidFill>
            <a:schemeClr val="accent1"/>
          </a:solidFill>
        </p:spPr>
      </p:sp>
      <p:pic>
        <p:nvPicPr>
          <p:cNvPr id="9" name="Module icon 2" descr="Module icon 2"/>
          <p:cNvPicPr>
            <a:picLocks noChangeAspect="1"/>
          </p:cNvPicPr>
          <p:nvPr/>
        </p:nvPicPr>
        <p:blipFill>
          <a:blip r:embed="rId2"/>
          <a:stretch>
            <a:fillRect/>
          </a:stretch>
        </p:blipFill>
        <p:spPr>
          <a:xfrm>
            <a:off x="723473" y="1839041"/>
            <a:ext cx="180685" cy="180685"/>
          </a:xfrm>
          <a:prstGeom prst="rect">
            <a:avLst/>
          </a:prstGeom>
        </p:spPr>
      </p:pic>
      <p:sp>
        <p:nvSpPr>
          <p:cNvPr id="10" name="Text 5"/>
          <p:cNvSpPr txBox="1"/>
          <p:nvPr/>
        </p:nvSpPr>
        <p:spPr>
          <a:xfrm>
            <a:off x="1143000" y="1755648"/>
            <a:ext cx="4069080" cy="347472"/>
          </a:xfrm>
          <a:prstGeom prst="rect">
            <a:avLst/>
          </a:prstGeom>
          <a:noFill/>
        </p:spPr>
        <p:txBody>
          <a:bodyPr wrap="square" lIns="0" tIns="0" rIns="0" bIns="0" rtlCol="0" anchor="ctr"/>
          <a:lstStyle/>
          <a:p>
            <a:pPr marL="0" indent="0">
              <a:buNone/>
            </a:pPr>
            <a:r>
              <a:rPr lang="en-US" sz="1400" b="1" dirty="0">
                <a:solidFill>
                  <a:schemeClr val="tx1"/>
                </a:solidFill>
              </a:rPr>
              <a:t>Text-to-Sign</a:t>
            </a:r>
            <a:r>
              <a:rPr lang="en-US" sz="1400" dirty="0">
                <a:solidFill>
                  <a:schemeClr val="accent6"/>
                </a:solidFill>
              </a:rPr>
              <a:t>  player, fingerspelling</a:t>
            </a:r>
            <a:endParaRPr lang="en-US" sz="1400" dirty="0"/>
          </a:p>
        </p:txBody>
      </p:sp>
      <p:sp>
        <p:nvSpPr>
          <p:cNvPr id="11" name="Module icon 3 circle"/>
          <p:cNvSpPr/>
          <p:nvPr/>
        </p:nvSpPr>
        <p:spPr>
          <a:xfrm>
            <a:off x="640080" y="2212848"/>
            <a:ext cx="347472" cy="347472"/>
          </a:xfrm>
          <a:prstGeom prst="ellipse">
            <a:avLst/>
          </a:prstGeom>
          <a:solidFill>
            <a:schemeClr val="accent1"/>
          </a:solidFill>
        </p:spPr>
      </p:sp>
      <p:pic>
        <p:nvPicPr>
          <p:cNvPr id="12" name="Module icon 3" descr="Module icon 3"/>
          <p:cNvPicPr>
            <a:picLocks noChangeAspect="1"/>
          </p:cNvPicPr>
          <p:nvPr/>
        </p:nvPicPr>
        <p:blipFill>
          <a:blip r:embed="rId3"/>
          <a:stretch>
            <a:fillRect/>
          </a:stretch>
        </p:blipFill>
        <p:spPr>
          <a:xfrm>
            <a:off x="723473" y="2296241"/>
            <a:ext cx="180685" cy="180685"/>
          </a:xfrm>
          <a:prstGeom prst="rect">
            <a:avLst/>
          </a:prstGeom>
        </p:spPr>
      </p:pic>
      <p:sp>
        <p:nvSpPr>
          <p:cNvPr id="13" name="Text 7"/>
          <p:cNvSpPr txBox="1"/>
          <p:nvPr/>
        </p:nvSpPr>
        <p:spPr>
          <a:xfrm>
            <a:off x="1143000" y="2212848"/>
            <a:ext cx="4069080" cy="347472"/>
          </a:xfrm>
          <a:prstGeom prst="rect">
            <a:avLst/>
          </a:prstGeom>
          <a:noFill/>
        </p:spPr>
        <p:txBody>
          <a:bodyPr wrap="square" lIns="0" tIns="0" rIns="0" bIns="0" rtlCol="0" anchor="ctr"/>
          <a:lstStyle/>
          <a:p>
            <a:pPr marL="0" indent="0">
              <a:buNone/>
            </a:pPr>
            <a:r>
              <a:rPr lang="en-US" sz="1400" b="1" dirty="0">
                <a:solidFill>
                  <a:schemeClr val="tx1"/>
                </a:solidFill>
              </a:rPr>
              <a:t>Voice-to-Sign</a:t>
            </a:r>
            <a:r>
              <a:rPr lang="en-US" sz="1400" dirty="0">
                <a:solidFill>
                  <a:schemeClr val="accent6"/>
                </a:solidFill>
              </a:rPr>
              <a:t>  en-IN and hi-IN</a:t>
            </a:r>
            <a:endParaRPr lang="en-US" sz="1400" dirty="0"/>
          </a:p>
        </p:txBody>
      </p:sp>
      <p:sp>
        <p:nvSpPr>
          <p:cNvPr id="14" name="Module icon 4 circle"/>
          <p:cNvSpPr/>
          <p:nvPr/>
        </p:nvSpPr>
        <p:spPr>
          <a:xfrm>
            <a:off x="640080" y="2670048"/>
            <a:ext cx="347472" cy="347472"/>
          </a:xfrm>
          <a:prstGeom prst="ellipse">
            <a:avLst/>
          </a:prstGeom>
          <a:solidFill>
            <a:schemeClr val="accent1"/>
          </a:solidFill>
        </p:spPr>
      </p:sp>
      <p:pic>
        <p:nvPicPr>
          <p:cNvPr id="15" name="Module icon 4" descr="Module icon 4"/>
          <p:cNvPicPr>
            <a:picLocks noChangeAspect="1"/>
          </p:cNvPicPr>
          <p:nvPr/>
        </p:nvPicPr>
        <p:blipFill>
          <a:blip r:embed="rId4"/>
          <a:stretch>
            <a:fillRect/>
          </a:stretch>
        </p:blipFill>
        <p:spPr>
          <a:xfrm>
            <a:off x="723473" y="2753441"/>
            <a:ext cx="180685" cy="180685"/>
          </a:xfrm>
          <a:prstGeom prst="rect">
            <a:avLst/>
          </a:prstGeom>
        </p:spPr>
      </p:pic>
      <p:sp>
        <p:nvSpPr>
          <p:cNvPr id="16" name="Text 9"/>
          <p:cNvSpPr txBox="1"/>
          <p:nvPr/>
        </p:nvSpPr>
        <p:spPr>
          <a:xfrm>
            <a:off x="1143000" y="2670048"/>
            <a:ext cx="4069080" cy="347472"/>
          </a:xfrm>
          <a:prstGeom prst="rect">
            <a:avLst/>
          </a:prstGeom>
          <a:noFill/>
        </p:spPr>
        <p:txBody>
          <a:bodyPr wrap="square" lIns="0" tIns="0" rIns="0" bIns="0" rtlCol="0" anchor="ctr"/>
          <a:lstStyle/>
          <a:p>
            <a:pPr marL="0" indent="0">
              <a:buNone/>
            </a:pPr>
            <a:r>
              <a:rPr lang="en-US" sz="1400" b="1" dirty="0">
                <a:solidFill>
                  <a:schemeClr val="tx1"/>
                </a:solidFill>
              </a:rPr>
              <a:t>YouTube-to-Sign</a:t>
            </a:r>
            <a:r>
              <a:rPr lang="en-US" sz="1400" dirty="0">
                <a:solidFill>
                  <a:schemeClr val="accent6"/>
                </a:solidFill>
              </a:rPr>
              <a:t>  transcribe and sync</a:t>
            </a:r>
            <a:endParaRPr lang="en-US" sz="1400" dirty="0"/>
          </a:p>
        </p:txBody>
      </p:sp>
      <p:sp>
        <p:nvSpPr>
          <p:cNvPr id="17" name="Module icon 5 circle"/>
          <p:cNvSpPr/>
          <p:nvPr/>
        </p:nvSpPr>
        <p:spPr>
          <a:xfrm>
            <a:off x="640080" y="3127248"/>
            <a:ext cx="347472" cy="347472"/>
          </a:xfrm>
          <a:prstGeom prst="ellipse">
            <a:avLst/>
          </a:prstGeom>
          <a:solidFill>
            <a:schemeClr val="accent1"/>
          </a:solidFill>
        </p:spPr>
      </p:sp>
      <p:pic>
        <p:nvPicPr>
          <p:cNvPr id="18" name="Module icon 5" descr="Module icon 5"/>
          <p:cNvPicPr>
            <a:picLocks noChangeAspect="1"/>
          </p:cNvPicPr>
          <p:nvPr/>
        </p:nvPicPr>
        <p:blipFill>
          <a:blip r:embed="rId5"/>
          <a:stretch>
            <a:fillRect/>
          </a:stretch>
        </p:blipFill>
        <p:spPr>
          <a:xfrm>
            <a:off x="723473" y="3210641"/>
            <a:ext cx="180685" cy="180685"/>
          </a:xfrm>
          <a:prstGeom prst="rect">
            <a:avLst/>
          </a:prstGeom>
        </p:spPr>
      </p:pic>
      <p:sp>
        <p:nvSpPr>
          <p:cNvPr id="19" name="Text 11"/>
          <p:cNvSpPr txBox="1"/>
          <p:nvPr/>
        </p:nvSpPr>
        <p:spPr>
          <a:xfrm>
            <a:off x="1143000" y="3127248"/>
            <a:ext cx="4069080" cy="347472"/>
          </a:xfrm>
          <a:prstGeom prst="rect">
            <a:avLst/>
          </a:prstGeom>
          <a:noFill/>
        </p:spPr>
        <p:txBody>
          <a:bodyPr wrap="square" lIns="0" tIns="0" rIns="0" bIns="0" rtlCol="0" anchor="ctr"/>
          <a:lstStyle/>
          <a:p>
            <a:pPr marL="0" indent="0">
              <a:buNone/>
            </a:pPr>
            <a:r>
              <a:rPr lang="en-US" sz="1400" b="1" dirty="0">
                <a:solidFill>
                  <a:schemeClr val="tx1"/>
                </a:solidFill>
              </a:rPr>
              <a:t>Dataset Studio</a:t>
            </a:r>
            <a:r>
              <a:rPr lang="en-US" sz="1400" dirty="0">
                <a:solidFill>
                  <a:schemeClr val="accent6"/>
                </a:solidFill>
              </a:rPr>
              <a:t>  record, retrain</a:t>
            </a:r>
            <a:endParaRPr lang="en-US" sz="1400" dirty="0"/>
          </a:p>
        </p:txBody>
      </p:sp>
      <p:sp>
        <p:nvSpPr>
          <p:cNvPr id="20" name="Module icon 6 circle"/>
          <p:cNvSpPr/>
          <p:nvPr/>
        </p:nvSpPr>
        <p:spPr>
          <a:xfrm>
            <a:off x="640080" y="3584448"/>
            <a:ext cx="347472" cy="347472"/>
          </a:xfrm>
          <a:prstGeom prst="ellipse">
            <a:avLst/>
          </a:prstGeom>
          <a:solidFill>
            <a:schemeClr val="accent1"/>
          </a:solidFill>
        </p:spPr>
      </p:sp>
      <p:pic>
        <p:nvPicPr>
          <p:cNvPr id="21" name="Module icon 6" descr="Module icon 6"/>
          <p:cNvPicPr>
            <a:picLocks noChangeAspect="1"/>
          </p:cNvPicPr>
          <p:nvPr/>
        </p:nvPicPr>
        <p:blipFill>
          <a:blip r:embed="rId6"/>
          <a:stretch>
            <a:fillRect/>
          </a:stretch>
        </p:blipFill>
        <p:spPr>
          <a:xfrm>
            <a:off x="723473" y="3667841"/>
            <a:ext cx="180685" cy="180685"/>
          </a:xfrm>
          <a:prstGeom prst="rect">
            <a:avLst/>
          </a:prstGeom>
        </p:spPr>
      </p:pic>
      <p:sp>
        <p:nvSpPr>
          <p:cNvPr id="22" name="Text 13"/>
          <p:cNvSpPr txBox="1"/>
          <p:nvPr/>
        </p:nvSpPr>
        <p:spPr>
          <a:xfrm>
            <a:off x="1143000" y="3584448"/>
            <a:ext cx="4069080" cy="347472"/>
          </a:xfrm>
          <a:prstGeom prst="rect">
            <a:avLst/>
          </a:prstGeom>
          <a:noFill/>
        </p:spPr>
        <p:txBody>
          <a:bodyPr wrap="square" lIns="0" tIns="0" rIns="0" bIns="0" rtlCol="0" anchor="ctr"/>
          <a:lstStyle/>
          <a:p>
            <a:pPr marL="0" indent="0">
              <a:buNone/>
            </a:pPr>
            <a:r>
              <a:rPr lang="en-US" sz="1400" b="1" dirty="0">
                <a:solidFill>
                  <a:schemeClr val="tx1"/>
                </a:solidFill>
              </a:rPr>
              <a:t>Dictionary</a:t>
            </a:r>
            <a:r>
              <a:rPr lang="en-US" sz="1400" dirty="0">
                <a:solidFill>
                  <a:schemeClr val="accent6"/>
                </a:solidFill>
              </a:rPr>
              <a:t>  204 signs, split-screen practice</a:t>
            </a:r>
            <a:endParaRPr lang="en-US" sz="1400" dirty="0"/>
          </a:p>
        </p:txBody>
      </p:sp>
      <p:sp>
        <p:nvSpPr>
          <p:cNvPr id="23" name="Module icon 7 circle"/>
          <p:cNvSpPr/>
          <p:nvPr/>
        </p:nvSpPr>
        <p:spPr>
          <a:xfrm>
            <a:off x="640080" y="4041648"/>
            <a:ext cx="347472" cy="347472"/>
          </a:xfrm>
          <a:prstGeom prst="ellipse">
            <a:avLst/>
          </a:prstGeom>
          <a:solidFill>
            <a:schemeClr val="accent1"/>
          </a:solidFill>
        </p:spPr>
      </p:sp>
      <p:pic>
        <p:nvPicPr>
          <p:cNvPr id="24" name="Module icon 7" descr="Module icon 7"/>
          <p:cNvPicPr>
            <a:picLocks noChangeAspect="1"/>
          </p:cNvPicPr>
          <p:nvPr/>
        </p:nvPicPr>
        <p:blipFill>
          <a:blip r:embed="rId7"/>
          <a:stretch>
            <a:fillRect/>
          </a:stretch>
        </p:blipFill>
        <p:spPr>
          <a:xfrm>
            <a:off x="723473" y="4125041"/>
            <a:ext cx="180685" cy="180685"/>
          </a:xfrm>
          <a:prstGeom prst="rect">
            <a:avLst/>
          </a:prstGeom>
        </p:spPr>
      </p:pic>
      <p:sp>
        <p:nvSpPr>
          <p:cNvPr id="25" name="Text 15"/>
          <p:cNvSpPr txBox="1"/>
          <p:nvPr/>
        </p:nvSpPr>
        <p:spPr>
          <a:xfrm>
            <a:off x="1143000" y="4041648"/>
            <a:ext cx="4069080" cy="347472"/>
          </a:xfrm>
          <a:prstGeom prst="rect">
            <a:avLst/>
          </a:prstGeom>
          <a:noFill/>
        </p:spPr>
        <p:txBody>
          <a:bodyPr wrap="square" lIns="0" tIns="0" rIns="0" bIns="0" rtlCol="0" anchor="ctr"/>
          <a:lstStyle/>
          <a:p>
            <a:pPr marL="0" indent="0">
              <a:buNone/>
            </a:pPr>
            <a:r>
              <a:rPr lang="en-US" sz="1400" b="1" dirty="0">
                <a:solidFill>
                  <a:schemeClr val="tx1"/>
                </a:solidFill>
              </a:rPr>
              <a:t>Research Gallery</a:t>
            </a:r>
            <a:r>
              <a:rPr lang="en-US" sz="1400" dirty="0">
                <a:solidFill>
                  <a:schemeClr val="accent6"/>
                </a:solidFill>
              </a:rPr>
              <a:t>  189 figures, 18 papers</a:t>
            </a:r>
            <a:endParaRPr lang="en-US" sz="1400" dirty="0"/>
          </a:p>
        </p:txBody>
      </p:sp>
      <p:sp>
        <p:nvSpPr>
          <p:cNvPr id="26" name="Thread card 1"/>
          <p:cNvSpPr/>
          <p:nvPr/>
        </p:nvSpPr>
        <p:spPr>
          <a:xfrm>
            <a:off x="5486400" y="1188720"/>
            <a:ext cx="3200400" cy="822960"/>
          </a:xfrm>
          <a:prstGeom prst="roundRect">
            <a:avLst>
              <a:gd name="adj" fmla="val 8889"/>
            </a:avLst>
          </a:prstGeom>
          <a:solidFill>
            <a:schemeClr val="bg2"/>
          </a:solidFill>
        </p:spPr>
      </p:sp>
      <p:sp>
        <p:nvSpPr>
          <p:cNvPr id="27" name="Text 17"/>
          <p:cNvSpPr txBox="1"/>
          <p:nvPr/>
        </p:nvSpPr>
        <p:spPr>
          <a:xfrm>
            <a:off x="5669280" y="1188720"/>
            <a:ext cx="2926080" cy="822960"/>
          </a:xfrm>
          <a:prstGeom prst="rect">
            <a:avLst/>
          </a:prstGeom>
          <a:noFill/>
        </p:spPr>
        <p:txBody>
          <a:bodyPr wrap="square" lIns="0" tIns="0" rIns="0" bIns="0" rtlCol="0" anchor="ctr"/>
          <a:lstStyle/>
          <a:p>
            <a:pPr marL="0" indent="0">
              <a:buNone/>
            </a:pPr>
            <a:r>
              <a:rPr lang="en-US" sz="1600" b="1" dirty="0">
                <a:solidFill>
                  <a:schemeClr val="tx1"/>
                </a:solidFill>
              </a:rPr>
              <a:t>Capture thread</a:t>
            </a:r>
            <a:endParaRPr lang="en-US" sz="1600" dirty="0"/>
          </a:p>
          <a:p>
            <a:pPr marL="0" indent="0">
              <a:buNone/>
            </a:pPr>
            <a:r>
              <a:rPr lang="en-US" sz="1400" dirty="0">
                <a:solidFill>
                  <a:schemeClr val="tx1"/>
                </a:solidFill>
              </a:rPr>
              <a:t>Keeps the newest frame behind a lock</a:t>
            </a:r>
            <a:endParaRPr lang="en-US" sz="1600" dirty="0"/>
          </a:p>
        </p:txBody>
      </p:sp>
      <p:sp>
        <p:nvSpPr>
          <p:cNvPr id="28" name="Thread card 2"/>
          <p:cNvSpPr/>
          <p:nvPr/>
        </p:nvSpPr>
        <p:spPr>
          <a:xfrm>
            <a:off x="5486400" y="2084832"/>
            <a:ext cx="3200400" cy="822960"/>
          </a:xfrm>
          <a:prstGeom prst="roundRect">
            <a:avLst>
              <a:gd name="adj" fmla="val 8889"/>
            </a:avLst>
          </a:prstGeom>
          <a:solidFill>
            <a:schemeClr val="bg2"/>
          </a:solidFill>
        </p:spPr>
      </p:sp>
      <p:sp>
        <p:nvSpPr>
          <p:cNvPr id="29" name="Text 19"/>
          <p:cNvSpPr txBox="1"/>
          <p:nvPr/>
        </p:nvSpPr>
        <p:spPr>
          <a:xfrm>
            <a:off x="5669280" y="2084832"/>
            <a:ext cx="2926080" cy="822960"/>
          </a:xfrm>
          <a:prstGeom prst="rect">
            <a:avLst/>
          </a:prstGeom>
          <a:noFill/>
        </p:spPr>
        <p:txBody>
          <a:bodyPr wrap="square" lIns="0" tIns="0" rIns="0" bIns="0" rtlCol="0" anchor="ctr"/>
          <a:lstStyle/>
          <a:p>
            <a:pPr marL="0" indent="0">
              <a:buNone/>
            </a:pPr>
            <a:r>
              <a:rPr lang="en-US" sz="1600" b="1" dirty="0">
                <a:solidFill>
                  <a:schemeClr val="tx1"/>
                </a:solidFill>
              </a:rPr>
              <a:t>Inference worker</a:t>
            </a:r>
            <a:endParaRPr lang="en-US" sz="1600" dirty="0"/>
          </a:p>
          <a:p>
            <a:pPr marL="0" indent="0">
              <a:buNone/>
            </a:pPr>
            <a:r>
              <a:rPr lang="en-US" sz="1400" dirty="0">
                <a:solidFill>
                  <a:schemeClr val="tx1"/>
                </a:solidFill>
              </a:rPr>
              <a:t>MediaPipe, 156-D features, classifier</a:t>
            </a:r>
            <a:endParaRPr lang="en-US" sz="1600" dirty="0"/>
          </a:p>
        </p:txBody>
      </p:sp>
      <p:sp>
        <p:nvSpPr>
          <p:cNvPr id="30" name="Thread card 3"/>
          <p:cNvSpPr/>
          <p:nvPr/>
        </p:nvSpPr>
        <p:spPr>
          <a:xfrm>
            <a:off x="5486400" y="2980944"/>
            <a:ext cx="3200400" cy="822960"/>
          </a:xfrm>
          <a:prstGeom prst="roundRect">
            <a:avLst>
              <a:gd name="adj" fmla="val 8889"/>
            </a:avLst>
          </a:prstGeom>
          <a:solidFill>
            <a:schemeClr val="bg2"/>
          </a:solidFill>
        </p:spPr>
      </p:sp>
      <p:sp>
        <p:nvSpPr>
          <p:cNvPr id="31" name="Text 21"/>
          <p:cNvSpPr txBox="1"/>
          <p:nvPr/>
        </p:nvSpPr>
        <p:spPr>
          <a:xfrm>
            <a:off x="5669280" y="2980944"/>
            <a:ext cx="2926080" cy="822960"/>
          </a:xfrm>
          <a:prstGeom prst="rect">
            <a:avLst/>
          </a:prstGeom>
          <a:noFill/>
        </p:spPr>
        <p:txBody>
          <a:bodyPr wrap="square" lIns="0" tIns="0" rIns="0" bIns="0" rtlCol="0" anchor="ctr"/>
          <a:lstStyle/>
          <a:p>
            <a:pPr marL="0" indent="0">
              <a:buNone/>
            </a:pPr>
            <a:r>
              <a:rPr lang="en-US" sz="1600" b="1" dirty="0">
                <a:solidFill>
                  <a:schemeClr val="tx1"/>
                </a:solidFill>
              </a:rPr>
              <a:t>HTTP server</a:t>
            </a:r>
            <a:endParaRPr lang="en-US" sz="1600" dirty="0"/>
          </a:p>
          <a:p>
            <a:pPr marL="0" indent="0">
              <a:buNone/>
            </a:pPr>
            <a:r>
              <a:rPr lang="en-US" sz="1400" dirty="0">
                <a:solidFill>
                  <a:schemeClr val="tx1"/>
                </a:solidFill>
              </a:rPr>
              <a:t>MJPEG video plus JSON state at 10 Hz</a:t>
            </a:r>
            <a:endParaRPr lang="en-US" sz="1600" dirty="0"/>
          </a:p>
        </p:txBody>
      </p:sp>
      <p:sp>
        <p:nvSpPr>
          <p:cNvPr id="32" name="Privacy card"/>
          <p:cNvSpPr/>
          <p:nvPr/>
        </p:nvSpPr>
        <p:spPr>
          <a:xfrm>
            <a:off x="5486400" y="3895344"/>
            <a:ext cx="3200400" cy="585216"/>
          </a:xfrm>
          <a:prstGeom prst="roundRect">
            <a:avLst>
              <a:gd name="adj" fmla="val 12500"/>
            </a:avLst>
          </a:prstGeom>
          <a:solidFill>
            <a:schemeClr val="tx2"/>
          </a:solidFill>
        </p:spPr>
      </p:sp>
      <p:sp>
        <p:nvSpPr>
          <p:cNvPr id="33" name="Text 23"/>
          <p:cNvSpPr txBox="1"/>
          <p:nvPr/>
        </p:nvSpPr>
        <p:spPr>
          <a:xfrm>
            <a:off x="5669280" y="3895344"/>
            <a:ext cx="2926080" cy="585216"/>
          </a:xfrm>
          <a:prstGeom prst="rect">
            <a:avLst/>
          </a:prstGeom>
          <a:noFill/>
        </p:spPr>
        <p:txBody>
          <a:bodyPr wrap="square" lIns="0" tIns="0" rIns="0" bIns="0" rtlCol="0" anchor="ctr"/>
          <a:lstStyle/>
          <a:p>
            <a:pPr marL="0" indent="0">
              <a:buNone/>
            </a:pPr>
            <a:r>
              <a:rPr lang="en-US" sz="1400" b="1" dirty="0">
                <a:solidFill>
                  <a:schemeClr val="bg1"/>
                </a:solidFill>
              </a:rPr>
              <a:t>No video stored: only 156 numbers per sample</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Dataset: 7,352 samples, 45 classes</a:t>
            </a:r>
            <a:endParaRPr lang="en-US" sz="3000" dirty="0"/>
          </a:p>
        </p:txBody>
      </p:sp>
      <p:graphicFrame>
        <p:nvGraphicFramePr>
          <p:cNvPr id="4" name="Chart 0"/>
          <p:cNvGraphicFramePr/>
          <p:nvPr/>
        </p:nvGraphicFramePr>
        <p:xfrm>
          <a:off x="457200" y="1143000"/>
          <a:ext cx="3931920" cy="3383280"/>
        </p:xfrm>
        <a:graphic>
          <a:graphicData uri="http://schemas.openxmlformats.org/drawingml/2006/chart">
            <c:chart xmlns:c="http://schemas.openxmlformats.org/drawingml/2006/chart" xmlns:r="http://schemas.openxmlformats.org/officeDocument/2006/relationships" r:id="rId1"/>
          </a:graphicData>
        </a:graphic>
      </p:graphicFrame>
      <p:sp>
        <p:nvSpPr>
          <p:cNvPr id="5" name="Class group card 1"/>
          <p:cNvSpPr/>
          <p:nvPr/>
        </p:nvSpPr>
        <p:spPr>
          <a:xfrm>
            <a:off x="4663440" y="1188720"/>
            <a:ext cx="4023360" cy="822960"/>
          </a:xfrm>
          <a:prstGeom prst="roundRect">
            <a:avLst>
              <a:gd name="adj" fmla="val 8889"/>
            </a:avLst>
          </a:prstGeom>
          <a:solidFill>
            <a:schemeClr val="bg2"/>
          </a:solidFill>
        </p:spPr>
      </p:sp>
      <p:sp>
        <p:nvSpPr>
          <p:cNvPr id="6" name="Text 2"/>
          <p:cNvSpPr txBox="1"/>
          <p:nvPr/>
        </p:nvSpPr>
        <p:spPr>
          <a:xfrm>
            <a:off x="4846320" y="1188720"/>
            <a:ext cx="1280160" cy="822960"/>
          </a:xfrm>
          <a:prstGeom prst="rect">
            <a:avLst/>
          </a:prstGeom>
          <a:noFill/>
        </p:spPr>
        <p:txBody>
          <a:bodyPr wrap="square" lIns="0" tIns="0" rIns="0" bIns="0" rtlCol="0" anchor="ctr"/>
          <a:lstStyle/>
          <a:p>
            <a:pPr marL="0" indent="0">
              <a:buNone/>
            </a:pPr>
            <a:r>
              <a:rPr lang="en-US" sz="2800" b="1" dirty="0">
                <a:solidFill>
                  <a:schemeClr val="tx2"/>
                </a:solidFill>
              </a:rPr>
              <a:t>4,957</a:t>
            </a:r>
            <a:endParaRPr lang="en-US" sz="2800" dirty="0"/>
          </a:p>
        </p:txBody>
      </p:sp>
      <p:sp>
        <p:nvSpPr>
          <p:cNvPr id="7" name="Text 3"/>
          <p:cNvSpPr txBox="1"/>
          <p:nvPr/>
        </p:nvSpPr>
        <p:spPr>
          <a:xfrm>
            <a:off x="6172200" y="1188720"/>
            <a:ext cx="2377440" cy="822960"/>
          </a:xfrm>
          <a:prstGeom prst="rect">
            <a:avLst/>
          </a:prstGeom>
          <a:noFill/>
        </p:spPr>
        <p:txBody>
          <a:bodyPr wrap="square" lIns="0" tIns="0" rIns="0" bIns="0" rtlCol="0" anchor="ctr"/>
          <a:lstStyle/>
          <a:p>
            <a:pPr marL="0" indent="0">
              <a:buNone/>
            </a:pPr>
            <a:r>
              <a:rPr lang="en-US" sz="1400" dirty="0">
                <a:solidFill>
                  <a:schemeClr val="tx1"/>
                </a:solidFill>
              </a:rPr>
              <a:t>alphabet samples, about 190 per class</a:t>
            </a:r>
            <a:endParaRPr lang="en-US" sz="1400" dirty="0"/>
          </a:p>
        </p:txBody>
      </p:sp>
      <p:sp>
        <p:nvSpPr>
          <p:cNvPr id="8" name="Class group card 2"/>
          <p:cNvSpPr/>
          <p:nvPr/>
        </p:nvSpPr>
        <p:spPr>
          <a:xfrm>
            <a:off x="4663440" y="2103120"/>
            <a:ext cx="4023360" cy="822960"/>
          </a:xfrm>
          <a:prstGeom prst="roundRect">
            <a:avLst>
              <a:gd name="adj" fmla="val 8889"/>
            </a:avLst>
          </a:prstGeom>
          <a:solidFill>
            <a:schemeClr val="bg2"/>
          </a:solidFill>
        </p:spPr>
      </p:sp>
      <p:sp>
        <p:nvSpPr>
          <p:cNvPr id="9" name="Text 5"/>
          <p:cNvSpPr txBox="1"/>
          <p:nvPr/>
        </p:nvSpPr>
        <p:spPr>
          <a:xfrm>
            <a:off x="4846320" y="2103120"/>
            <a:ext cx="1280160" cy="822960"/>
          </a:xfrm>
          <a:prstGeom prst="rect">
            <a:avLst/>
          </a:prstGeom>
          <a:noFill/>
        </p:spPr>
        <p:txBody>
          <a:bodyPr wrap="square" lIns="0" tIns="0" rIns="0" bIns="0" rtlCol="0" anchor="ctr"/>
          <a:lstStyle/>
          <a:p>
            <a:pPr marL="0" indent="0">
              <a:buNone/>
            </a:pPr>
            <a:r>
              <a:rPr lang="en-US" sz="2800" b="1" dirty="0">
                <a:solidFill>
                  <a:schemeClr val="tx2"/>
                </a:solidFill>
              </a:rPr>
              <a:t>1,810</a:t>
            </a:r>
            <a:endParaRPr lang="en-US" sz="2800" dirty="0"/>
          </a:p>
        </p:txBody>
      </p:sp>
      <p:sp>
        <p:nvSpPr>
          <p:cNvPr id="10" name="Text 6"/>
          <p:cNvSpPr txBox="1"/>
          <p:nvPr/>
        </p:nvSpPr>
        <p:spPr>
          <a:xfrm>
            <a:off x="6172200" y="2103120"/>
            <a:ext cx="2377440" cy="822960"/>
          </a:xfrm>
          <a:prstGeom prst="rect">
            <a:avLst/>
          </a:prstGeom>
          <a:noFill/>
        </p:spPr>
        <p:txBody>
          <a:bodyPr wrap="square" lIns="0" tIns="0" rIns="0" bIns="0" rtlCol="0" anchor="ctr"/>
          <a:lstStyle/>
          <a:p>
            <a:pPr marL="0" indent="0">
              <a:buNone/>
            </a:pPr>
            <a:r>
              <a:rPr lang="en-US" sz="1400" dirty="0">
                <a:solidFill>
                  <a:schemeClr val="tx1"/>
                </a:solidFill>
              </a:rPr>
              <a:t>numeral samples, about 201 per class</a:t>
            </a:r>
            <a:endParaRPr lang="en-US" sz="1400" dirty="0"/>
          </a:p>
        </p:txBody>
      </p:sp>
      <p:sp>
        <p:nvSpPr>
          <p:cNvPr id="11" name="Class group card 3"/>
          <p:cNvSpPr/>
          <p:nvPr/>
        </p:nvSpPr>
        <p:spPr>
          <a:xfrm>
            <a:off x="4663440" y="3017520"/>
            <a:ext cx="4023360" cy="822960"/>
          </a:xfrm>
          <a:prstGeom prst="roundRect">
            <a:avLst>
              <a:gd name="adj" fmla="val 8889"/>
            </a:avLst>
          </a:prstGeom>
          <a:solidFill>
            <a:schemeClr val="bg2"/>
          </a:solidFill>
        </p:spPr>
      </p:sp>
      <p:sp>
        <p:nvSpPr>
          <p:cNvPr id="12" name="Text 8"/>
          <p:cNvSpPr txBox="1"/>
          <p:nvPr/>
        </p:nvSpPr>
        <p:spPr>
          <a:xfrm>
            <a:off x="4846320" y="3017520"/>
            <a:ext cx="1280160" cy="822960"/>
          </a:xfrm>
          <a:prstGeom prst="rect">
            <a:avLst/>
          </a:prstGeom>
          <a:noFill/>
        </p:spPr>
        <p:txBody>
          <a:bodyPr wrap="square" lIns="0" tIns="0" rIns="0" bIns="0" rtlCol="0" anchor="ctr"/>
          <a:lstStyle/>
          <a:p>
            <a:pPr marL="0" indent="0">
              <a:buNone/>
            </a:pPr>
            <a:r>
              <a:rPr lang="en-US" sz="2800" b="1" dirty="0">
                <a:solidFill>
                  <a:schemeClr val="tx2"/>
                </a:solidFill>
              </a:rPr>
              <a:t>585</a:t>
            </a:r>
            <a:endParaRPr lang="en-US" sz="2800" dirty="0"/>
          </a:p>
        </p:txBody>
      </p:sp>
      <p:sp>
        <p:nvSpPr>
          <p:cNvPr id="13" name="Text 9"/>
          <p:cNvSpPr txBox="1"/>
          <p:nvPr/>
        </p:nvSpPr>
        <p:spPr>
          <a:xfrm>
            <a:off x="6172200" y="3017520"/>
            <a:ext cx="2377440" cy="822960"/>
          </a:xfrm>
          <a:prstGeom prst="rect">
            <a:avLst/>
          </a:prstGeom>
          <a:noFill/>
        </p:spPr>
        <p:txBody>
          <a:bodyPr wrap="square" lIns="0" tIns="0" rIns="0" bIns="0" rtlCol="0" anchor="ctr"/>
          <a:lstStyle/>
          <a:p>
            <a:pPr marL="0" indent="0">
              <a:buNone/>
            </a:pPr>
            <a:r>
              <a:rPr lang="en-US" sz="1400" dirty="0">
                <a:solidFill>
                  <a:schemeClr val="tx1"/>
                </a:solidFill>
              </a:rPr>
              <a:t>Hello, Thank You, Yes, No, Please and more</a:t>
            </a:r>
            <a:endParaRPr lang="en-US" sz="1400" dirty="0"/>
          </a:p>
        </p:txBody>
      </p:sp>
      <p:sp>
        <p:nvSpPr>
          <p:cNvPr id="14" name="Split card"/>
          <p:cNvSpPr/>
          <p:nvPr/>
        </p:nvSpPr>
        <p:spPr>
          <a:xfrm>
            <a:off x="4663440" y="3931920"/>
            <a:ext cx="4023360" cy="548640"/>
          </a:xfrm>
          <a:prstGeom prst="roundRect">
            <a:avLst>
              <a:gd name="adj" fmla="val 13333"/>
            </a:avLst>
          </a:prstGeom>
          <a:solidFill>
            <a:schemeClr val="tx2"/>
          </a:solidFill>
        </p:spPr>
      </p:sp>
      <p:sp>
        <p:nvSpPr>
          <p:cNvPr id="15" name="Text 11"/>
          <p:cNvSpPr txBox="1"/>
          <p:nvPr/>
        </p:nvSpPr>
        <p:spPr>
          <a:xfrm>
            <a:off x="4846320" y="3931920"/>
            <a:ext cx="3657600" cy="548640"/>
          </a:xfrm>
          <a:prstGeom prst="rect">
            <a:avLst/>
          </a:prstGeom>
          <a:noFill/>
        </p:spPr>
        <p:txBody>
          <a:bodyPr wrap="square" lIns="0" tIns="0" rIns="0" bIns="0" rtlCol="0" anchor="ctr"/>
          <a:lstStyle/>
          <a:p>
            <a:pPr marL="0" indent="0">
              <a:buNone/>
            </a:pPr>
            <a:r>
              <a:rPr lang="en-US" sz="1400" b="1" dirty="0">
                <a:solidFill>
                  <a:schemeClr val="bg1"/>
                </a:solidFill>
              </a:rPr>
              <a:t>80/20 stratified split: 5,881 train, 1,471 test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Sample signs from the dataset</a:t>
            </a:r>
            <a:endParaRPr lang="en-US" sz="3000" dirty="0"/>
          </a:p>
        </p:txBody>
      </p:sp>
      <p:sp>
        <p:nvSpPr>
          <p:cNvPr id="4" name="Sign tile A"/>
          <p:cNvSpPr/>
          <p:nvPr/>
        </p:nvSpPr>
        <p:spPr>
          <a:xfrm>
            <a:off x="457200" y="1188720"/>
            <a:ext cx="1554480" cy="1691640"/>
          </a:xfrm>
          <a:prstGeom prst="roundRect">
            <a:avLst>
              <a:gd name="adj" fmla="val 4706"/>
            </a:avLst>
          </a:prstGeom>
          <a:solidFill>
            <a:schemeClr val="bg2"/>
          </a:solidFill>
        </p:spPr>
      </p:sp>
      <p:pic>
        <p:nvPicPr>
          <p:cNvPr id="5" name="Sign A" descr="ISL sign for letter A"/>
          <p:cNvPicPr>
            <a:picLocks noChangeAspect="1"/>
          </p:cNvPicPr>
          <p:nvPr/>
        </p:nvPicPr>
        <p:blipFill>
          <a:blip r:embed="rId1"/>
          <a:stretch>
            <a:fillRect/>
          </a:stretch>
        </p:blipFill>
        <p:spPr>
          <a:xfrm>
            <a:off x="640080" y="1261872"/>
            <a:ext cx="1188720" cy="1188720"/>
          </a:xfrm>
          <a:prstGeom prst="rect">
            <a:avLst/>
          </a:prstGeom>
        </p:spPr>
      </p:pic>
      <p:sp>
        <p:nvSpPr>
          <p:cNvPr id="6" name="Text 2"/>
          <p:cNvSpPr txBox="1"/>
          <p:nvPr/>
        </p:nvSpPr>
        <p:spPr>
          <a:xfrm>
            <a:off x="457200" y="246888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A</a:t>
            </a:r>
            <a:r>
              <a:rPr lang="en-US" sz="1400" dirty="0">
                <a:solidFill>
                  <a:schemeClr val="tx1"/>
                </a:solidFill>
              </a:rPr>
              <a:t>  F1 88.7</a:t>
            </a:r>
            <a:endParaRPr lang="en-US" sz="1400" dirty="0"/>
          </a:p>
        </p:txBody>
      </p:sp>
      <p:sp>
        <p:nvSpPr>
          <p:cNvPr id="7" name="Text 3"/>
          <p:cNvSpPr txBox="1"/>
          <p:nvPr/>
        </p:nvSpPr>
        <p:spPr>
          <a:xfrm>
            <a:off x="457200" y="267919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two hands</a:t>
            </a:r>
            <a:endParaRPr lang="en-US" sz="1200" dirty="0"/>
          </a:p>
        </p:txBody>
      </p:sp>
      <p:sp>
        <p:nvSpPr>
          <p:cNvPr id="8" name="Sign tile B"/>
          <p:cNvSpPr/>
          <p:nvPr/>
        </p:nvSpPr>
        <p:spPr>
          <a:xfrm>
            <a:off x="2125980" y="1188720"/>
            <a:ext cx="1554480" cy="1691640"/>
          </a:xfrm>
          <a:prstGeom prst="roundRect">
            <a:avLst>
              <a:gd name="adj" fmla="val 4706"/>
            </a:avLst>
          </a:prstGeom>
          <a:solidFill>
            <a:schemeClr val="bg2"/>
          </a:solidFill>
        </p:spPr>
      </p:sp>
      <p:pic>
        <p:nvPicPr>
          <p:cNvPr id="9" name="Sign B" descr="ISL sign for letter B"/>
          <p:cNvPicPr>
            <a:picLocks noChangeAspect="1"/>
          </p:cNvPicPr>
          <p:nvPr/>
        </p:nvPicPr>
        <p:blipFill>
          <a:blip r:embed="rId2"/>
          <a:stretch>
            <a:fillRect/>
          </a:stretch>
        </p:blipFill>
        <p:spPr>
          <a:xfrm>
            <a:off x="2308860" y="1261872"/>
            <a:ext cx="1188720" cy="1188720"/>
          </a:xfrm>
          <a:prstGeom prst="rect">
            <a:avLst/>
          </a:prstGeom>
        </p:spPr>
      </p:pic>
      <p:sp>
        <p:nvSpPr>
          <p:cNvPr id="10" name="Text 5"/>
          <p:cNvSpPr txBox="1"/>
          <p:nvPr/>
        </p:nvSpPr>
        <p:spPr>
          <a:xfrm>
            <a:off x="2125980" y="246888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B</a:t>
            </a:r>
            <a:r>
              <a:rPr lang="en-US" sz="1400" dirty="0">
                <a:solidFill>
                  <a:schemeClr val="tx1"/>
                </a:solidFill>
              </a:rPr>
              <a:t>  F1 83.9</a:t>
            </a:r>
            <a:endParaRPr lang="en-US" sz="1400" dirty="0"/>
          </a:p>
        </p:txBody>
      </p:sp>
      <p:sp>
        <p:nvSpPr>
          <p:cNvPr id="11" name="Text 6"/>
          <p:cNvSpPr txBox="1"/>
          <p:nvPr/>
        </p:nvSpPr>
        <p:spPr>
          <a:xfrm>
            <a:off x="2125980" y="267919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two hands</a:t>
            </a:r>
            <a:endParaRPr lang="en-US" sz="1200" dirty="0"/>
          </a:p>
        </p:txBody>
      </p:sp>
      <p:sp>
        <p:nvSpPr>
          <p:cNvPr id="12" name="Sign tile C"/>
          <p:cNvSpPr/>
          <p:nvPr/>
        </p:nvSpPr>
        <p:spPr>
          <a:xfrm>
            <a:off x="3794760" y="1188720"/>
            <a:ext cx="1554480" cy="1691640"/>
          </a:xfrm>
          <a:prstGeom prst="roundRect">
            <a:avLst>
              <a:gd name="adj" fmla="val 4706"/>
            </a:avLst>
          </a:prstGeom>
          <a:solidFill>
            <a:schemeClr val="bg2"/>
          </a:solidFill>
        </p:spPr>
      </p:sp>
      <p:pic>
        <p:nvPicPr>
          <p:cNvPr id="13" name="Sign C" descr="ISL sign for letter C"/>
          <p:cNvPicPr>
            <a:picLocks noChangeAspect="1"/>
          </p:cNvPicPr>
          <p:nvPr/>
        </p:nvPicPr>
        <p:blipFill>
          <a:blip r:embed="rId3"/>
          <a:stretch>
            <a:fillRect/>
          </a:stretch>
        </p:blipFill>
        <p:spPr>
          <a:xfrm>
            <a:off x="3977640" y="1261872"/>
            <a:ext cx="1188720" cy="1188720"/>
          </a:xfrm>
          <a:prstGeom prst="rect">
            <a:avLst/>
          </a:prstGeom>
        </p:spPr>
      </p:pic>
      <p:sp>
        <p:nvSpPr>
          <p:cNvPr id="14" name="Text 8"/>
          <p:cNvSpPr txBox="1"/>
          <p:nvPr/>
        </p:nvSpPr>
        <p:spPr>
          <a:xfrm>
            <a:off x="3794760" y="246888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C</a:t>
            </a:r>
            <a:r>
              <a:rPr lang="en-US" sz="1400" dirty="0">
                <a:solidFill>
                  <a:schemeClr val="tx1"/>
                </a:solidFill>
              </a:rPr>
              <a:t>  F1 92.7</a:t>
            </a:r>
            <a:endParaRPr lang="en-US" sz="1400" dirty="0"/>
          </a:p>
        </p:txBody>
      </p:sp>
      <p:sp>
        <p:nvSpPr>
          <p:cNvPr id="15" name="Text 9"/>
          <p:cNvSpPr txBox="1"/>
          <p:nvPr/>
        </p:nvSpPr>
        <p:spPr>
          <a:xfrm>
            <a:off x="3794760" y="267919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one hand</a:t>
            </a:r>
            <a:endParaRPr lang="en-US" sz="1200" dirty="0"/>
          </a:p>
        </p:txBody>
      </p:sp>
      <p:sp>
        <p:nvSpPr>
          <p:cNvPr id="16" name="Sign tile D"/>
          <p:cNvSpPr/>
          <p:nvPr/>
        </p:nvSpPr>
        <p:spPr>
          <a:xfrm>
            <a:off x="5463540" y="1188720"/>
            <a:ext cx="1554480" cy="1691640"/>
          </a:xfrm>
          <a:prstGeom prst="roundRect">
            <a:avLst>
              <a:gd name="adj" fmla="val 4706"/>
            </a:avLst>
          </a:prstGeom>
          <a:solidFill>
            <a:schemeClr val="bg2"/>
          </a:solidFill>
        </p:spPr>
      </p:sp>
      <p:pic>
        <p:nvPicPr>
          <p:cNvPr id="17" name="Sign D" descr="ISL sign for letter D"/>
          <p:cNvPicPr>
            <a:picLocks noChangeAspect="1"/>
          </p:cNvPicPr>
          <p:nvPr/>
        </p:nvPicPr>
        <p:blipFill>
          <a:blip r:embed="rId4"/>
          <a:stretch>
            <a:fillRect/>
          </a:stretch>
        </p:blipFill>
        <p:spPr>
          <a:xfrm>
            <a:off x="5646420" y="1261872"/>
            <a:ext cx="1188720" cy="1188720"/>
          </a:xfrm>
          <a:prstGeom prst="rect">
            <a:avLst/>
          </a:prstGeom>
        </p:spPr>
      </p:pic>
      <p:sp>
        <p:nvSpPr>
          <p:cNvPr id="18" name="Text 11"/>
          <p:cNvSpPr txBox="1"/>
          <p:nvPr/>
        </p:nvSpPr>
        <p:spPr>
          <a:xfrm>
            <a:off x="5463540" y="246888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D</a:t>
            </a:r>
            <a:r>
              <a:rPr lang="en-US" sz="1400" dirty="0">
                <a:solidFill>
                  <a:schemeClr val="tx1"/>
                </a:solidFill>
              </a:rPr>
              <a:t>  F1 82.8</a:t>
            </a:r>
            <a:endParaRPr lang="en-US" sz="1400" dirty="0"/>
          </a:p>
        </p:txBody>
      </p:sp>
      <p:sp>
        <p:nvSpPr>
          <p:cNvPr id="19" name="Text 12"/>
          <p:cNvSpPr txBox="1"/>
          <p:nvPr/>
        </p:nvSpPr>
        <p:spPr>
          <a:xfrm>
            <a:off x="5463540" y="267919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two hands</a:t>
            </a:r>
            <a:endParaRPr lang="en-US" sz="1200" dirty="0"/>
          </a:p>
        </p:txBody>
      </p:sp>
      <p:sp>
        <p:nvSpPr>
          <p:cNvPr id="20" name="Sign tile H"/>
          <p:cNvSpPr/>
          <p:nvPr/>
        </p:nvSpPr>
        <p:spPr>
          <a:xfrm>
            <a:off x="7132320" y="1188720"/>
            <a:ext cx="1554480" cy="1691640"/>
          </a:xfrm>
          <a:prstGeom prst="roundRect">
            <a:avLst>
              <a:gd name="adj" fmla="val 4706"/>
            </a:avLst>
          </a:prstGeom>
          <a:solidFill>
            <a:schemeClr val="bg2"/>
          </a:solidFill>
        </p:spPr>
      </p:sp>
      <p:pic>
        <p:nvPicPr>
          <p:cNvPr id="21" name="Sign H" descr="ISL sign for letter H"/>
          <p:cNvPicPr>
            <a:picLocks noChangeAspect="1"/>
          </p:cNvPicPr>
          <p:nvPr/>
        </p:nvPicPr>
        <p:blipFill>
          <a:blip r:embed="rId5"/>
          <a:stretch>
            <a:fillRect/>
          </a:stretch>
        </p:blipFill>
        <p:spPr>
          <a:xfrm>
            <a:off x="7315200" y="1261872"/>
            <a:ext cx="1188720" cy="1188720"/>
          </a:xfrm>
          <a:prstGeom prst="rect">
            <a:avLst/>
          </a:prstGeom>
        </p:spPr>
      </p:pic>
      <p:sp>
        <p:nvSpPr>
          <p:cNvPr id="22" name="Text 14"/>
          <p:cNvSpPr txBox="1"/>
          <p:nvPr/>
        </p:nvSpPr>
        <p:spPr>
          <a:xfrm>
            <a:off x="7132320" y="246888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H</a:t>
            </a:r>
            <a:r>
              <a:rPr lang="en-US" sz="1400" dirty="0">
                <a:solidFill>
                  <a:schemeClr val="tx1"/>
                </a:solidFill>
              </a:rPr>
              <a:t>  F1 90.9</a:t>
            </a:r>
            <a:endParaRPr lang="en-US" sz="1400" dirty="0"/>
          </a:p>
        </p:txBody>
      </p:sp>
      <p:sp>
        <p:nvSpPr>
          <p:cNvPr id="23" name="Text 15"/>
          <p:cNvSpPr txBox="1"/>
          <p:nvPr/>
        </p:nvSpPr>
        <p:spPr>
          <a:xfrm>
            <a:off x="7132320" y="267919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two hands</a:t>
            </a:r>
            <a:endParaRPr lang="en-US" sz="1200" dirty="0"/>
          </a:p>
        </p:txBody>
      </p:sp>
      <p:sp>
        <p:nvSpPr>
          <p:cNvPr id="24" name="Sign tile I"/>
          <p:cNvSpPr/>
          <p:nvPr/>
        </p:nvSpPr>
        <p:spPr>
          <a:xfrm>
            <a:off x="457200" y="2971800"/>
            <a:ext cx="1554480" cy="1691640"/>
          </a:xfrm>
          <a:prstGeom prst="roundRect">
            <a:avLst>
              <a:gd name="adj" fmla="val 4706"/>
            </a:avLst>
          </a:prstGeom>
          <a:solidFill>
            <a:schemeClr val="bg2"/>
          </a:solidFill>
        </p:spPr>
      </p:sp>
      <p:pic>
        <p:nvPicPr>
          <p:cNvPr id="25" name="Sign I" descr="ISL sign for letter I"/>
          <p:cNvPicPr>
            <a:picLocks noChangeAspect="1"/>
          </p:cNvPicPr>
          <p:nvPr/>
        </p:nvPicPr>
        <p:blipFill>
          <a:blip r:embed="rId6"/>
          <a:stretch>
            <a:fillRect/>
          </a:stretch>
        </p:blipFill>
        <p:spPr>
          <a:xfrm>
            <a:off x="640080" y="3044952"/>
            <a:ext cx="1188720" cy="1188720"/>
          </a:xfrm>
          <a:prstGeom prst="rect">
            <a:avLst/>
          </a:prstGeom>
        </p:spPr>
      </p:pic>
      <p:sp>
        <p:nvSpPr>
          <p:cNvPr id="26" name="Text 17"/>
          <p:cNvSpPr txBox="1"/>
          <p:nvPr/>
        </p:nvSpPr>
        <p:spPr>
          <a:xfrm>
            <a:off x="457200" y="4251960"/>
            <a:ext cx="1554480" cy="228600"/>
          </a:xfrm>
          <a:prstGeom prst="rect">
            <a:avLst/>
          </a:prstGeom>
          <a:noFill/>
        </p:spPr>
        <p:txBody>
          <a:bodyPr wrap="square" lIns="0" tIns="0" rIns="0" bIns="0" rtlCol="0" anchor="t"/>
          <a:lstStyle/>
          <a:p>
            <a:pPr marL="0" indent="0" algn="ctr">
              <a:buNone/>
            </a:pPr>
            <a:r>
              <a:rPr lang="en-US"/>
              <a:t>I</a:t>
            </a:r>
            <a:r>
              <a:t>  F1 89.2</a:t>
            </a:r>
            <a:endParaRPr lang="en-US" sz="1400" dirty="0"/>
          </a:p>
        </p:txBody>
      </p:sp>
      <p:sp>
        <p:nvSpPr>
          <p:cNvPr id="27" name="Text 18"/>
          <p:cNvSpPr txBox="1"/>
          <p:nvPr/>
        </p:nvSpPr>
        <p:spPr>
          <a:xfrm>
            <a:off x="457200" y="446227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one hand</a:t>
            </a:r>
            <a:endParaRPr lang="en-US" sz="1200" dirty="0"/>
          </a:p>
        </p:txBody>
      </p:sp>
      <p:sp>
        <p:nvSpPr>
          <p:cNvPr id="28" name="Sign tile L"/>
          <p:cNvSpPr/>
          <p:nvPr/>
        </p:nvSpPr>
        <p:spPr>
          <a:xfrm>
            <a:off x="2125980" y="2971800"/>
            <a:ext cx="1554480" cy="1691640"/>
          </a:xfrm>
          <a:prstGeom prst="roundRect">
            <a:avLst>
              <a:gd name="adj" fmla="val 4706"/>
            </a:avLst>
          </a:prstGeom>
          <a:solidFill>
            <a:schemeClr val="bg2"/>
          </a:solidFill>
        </p:spPr>
      </p:sp>
      <p:pic>
        <p:nvPicPr>
          <p:cNvPr id="29" name="Sign L" descr="ISL sign for letter L"/>
          <p:cNvPicPr>
            <a:picLocks noChangeAspect="1"/>
          </p:cNvPicPr>
          <p:nvPr/>
        </p:nvPicPr>
        <p:blipFill>
          <a:blip r:embed="rId7"/>
          <a:stretch>
            <a:fillRect/>
          </a:stretch>
        </p:blipFill>
        <p:spPr>
          <a:xfrm>
            <a:off x="2308860" y="3044952"/>
            <a:ext cx="1188720" cy="1188720"/>
          </a:xfrm>
          <a:prstGeom prst="rect">
            <a:avLst/>
          </a:prstGeom>
        </p:spPr>
      </p:pic>
      <p:sp>
        <p:nvSpPr>
          <p:cNvPr id="30" name="Text 20"/>
          <p:cNvSpPr txBox="1"/>
          <p:nvPr/>
        </p:nvSpPr>
        <p:spPr>
          <a:xfrm>
            <a:off x="2125980" y="425196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L</a:t>
            </a:r>
            <a:r>
              <a:rPr lang="en-US" sz="1400" dirty="0">
                <a:solidFill>
                  <a:schemeClr val="tx1"/>
                </a:solidFill>
              </a:rPr>
              <a:t>  F1 94.6</a:t>
            </a:r>
            <a:endParaRPr lang="en-US" sz="1400" dirty="0"/>
          </a:p>
        </p:txBody>
      </p:sp>
      <p:sp>
        <p:nvSpPr>
          <p:cNvPr id="31" name="Text 21"/>
          <p:cNvSpPr txBox="1"/>
          <p:nvPr/>
        </p:nvSpPr>
        <p:spPr>
          <a:xfrm>
            <a:off x="2125980" y="446227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one hand</a:t>
            </a:r>
            <a:endParaRPr lang="en-US" sz="1200" dirty="0"/>
          </a:p>
        </p:txBody>
      </p:sp>
      <p:sp>
        <p:nvSpPr>
          <p:cNvPr id="32" name="Sign tile O"/>
          <p:cNvSpPr/>
          <p:nvPr/>
        </p:nvSpPr>
        <p:spPr>
          <a:xfrm>
            <a:off x="3794760" y="2971800"/>
            <a:ext cx="1554480" cy="1691640"/>
          </a:xfrm>
          <a:prstGeom prst="roundRect">
            <a:avLst>
              <a:gd name="adj" fmla="val 4706"/>
            </a:avLst>
          </a:prstGeom>
          <a:solidFill>
            <a:schemeClr val="bg2"/>
          </a:solidFill>
        </p:spPr>
      </p:sp>
      <p:pic>
        <p:nvPicPr>
          <p:cNvPr id="33" name="Sign O" descr="ISL sign for letter O"/>
          <p:cNvPicPr>
            <a:picLocks noChangeAspect="1"/>
          </p:cNvPicPr>
          <p:nvPr/>
        </p:nvPicPr>
        <p:blipFill>
          <a:blip r:embed="rId8"/>
          <a:stretch>
            <a:fillRect/>
          </a:stretch>
        </p:blipFill>
        <p:spPr>
          <a:xfrm>
            <a:off x="3977640" y="3044952"/>
            <a:ext cx="1188720" cy="1188720"/>
          </a:xfrm>
          <a:prstGeom prst="rect">
            <a:avLst/>
          </a:prstGeom>
        </p:spPr>
      </p:pic>
      <p:sp>
        <p:nvSpPr>
          <p:cNvPr id="34" name="Text 23"/>
          <p:cNvSpPr txBox="1"/>
          <p:nvPr/>
        </p:nvSpPr>
        <p:spPr>
          <a:xfrm>
            <a:off x="3794760" y="425196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O</a:t>
            </a:r>
            <a:r>
              <a:rPr lang="en-US" sz="1400" dirty="0">
                <a:solidFill>
                  <a:schemeClr val="tx1"/>
                </a:solidFill>
              </a:rPr>
              <a:t>  F1 87.1</a:t>
            </a:r>
            <a:endParaRPr lang="en-US" sz="1400" dirty="0"/>
          </a:p>
        </p:txBody>
      </p:sp>
      <p:sp>
        <p:nvSpPr>
          <p:cNvPr id="35" name="Text 24"/>
          <p:cNvSpPr txBox="1"/>
          <p:nvPr/>
        </p:nvSpPr>
        <p:spPr>
          <a:xfrm>
            <a:off x="3794760" y="446227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one hand</a:t>
            </a:r>
            <a:endParaRPr lang="en-US" sz="1200" dirty="0"/>
          </a:p>
        </p:txBody>
      </p:sp>
      <p:sp>
        <p:nvSpPr>
          <p:cNvPr id="36" name="Sign tile V"/>
          <p:cNvSpPr/>
          <p:nvPr/>
        </p:nvSpPr>
        <p:spPr>
          <a:xfrm>
            <a:off x="5463540" y="2971800"/>
            <a:ext cx="1554480" cy="1691640"/>
          </a:xfrm>
          <a:prstGeom prst="roundRect">
            <a:avLst>
              <a:gd name="adj" fmla="val 4706"/>
            </a:avLst>
          </a:prstGeom>
          <a:solidFill>
            <a:schemeClr val="bg2"/>
          </a:solidFill>
        </p:spPr>
      </p:sp>
      <p:pic>
        <p:nvPicPr>
          <p:cNvPr id="37" name="Sign V" descr="ISL sign for letter V"/>
          <p:cNvPicPr>
            <a:picLocks noChangeAspect="1"/>
          </p:cNvPicPr>
          <p:nvPr/>
        </p:nvPicPr>
        <p:blipFill>
          <a:blip r:embed="rId9"/>
          <a:stretch>
            <a:fillRect/>
          </a:stretch>
        </p:blipFill>
        <p:spPr>
          <a:xfrm>
            <a:off x="5646420" y="3044952"/>
            <a:ext cx="1188720" cy="1188720"/>
          </a:xfrm>
          <a:prstGeom prst="rect">
            <a:avLst/>
          </a:prstGeom>
        </p:spPr>
      </p:pic>
      <p:sp>
        <p:nvSpPr>
          <p:cNvPr id="38" name="Text 26"/>
          <p:cNvSpPr txBox="1"/>
          <p:nvPr/>
        </p:nvSpPr>
        <p:spPr>
          <a:xfrm>
            <a:off x="5463540" y="4251960"/>
            <a:ext cx="1554480" cy="228600"/>
          </a:xfrm>
          <a:prstGeom prst="rect">
            <a:avLst/>
          </a:prstGeom>
          <a:noFill/>
        </p:spPr>
        <p:txBody>
          <a:bodyPr wrap="square" lIns="0" tIns="0" rIns="0" bIns="0" rtlCol="0" anchor="t"/>
          <a:lstStyle/>
          <a:p>
            <a:pPr marL="0" indent="0" algn="ctr">
              <a:buNone/>
            </a:pPr>
            <a:r>
              <a:rPr lang="en-US" sz="1400" b="1" dirty="0">
                <a:solidFill>
                  <a:schemeClr val="tx1"/>
                </a:solidFill>
              </a:rPr>
              <a:t>V</a:t>
            </a:r>
            <a:r>
              <a:rPr lang="en-US" sz="1400" dirty="0">
                <a:solidFill>
                  <a:schemeClr val="tx1"/>
                </a:solidFill>
              </a:rPr>
              <a:t>  F1 90.9</a:t>
            </a:r>
            <a:endParaRPr lang="en-US" sz="1400" dirty="0"/>
          </a:p>
        </p:txBody>
      </p:sp>
      <p:sp>
        <p:nvSpPr>
          <p:cNvPr id="39" name="Text 27"/>
          <p:cNvSpPr txBox="1"/>
          <p:nvPr/>
        </p:nvSpPr>
        <p:spPr>
          <a:xfrm>
            <a:off x="5463540" y="4462272"/>
            <a:ext cx="1554480" cy="182880"/>
          </a:xfrm>
          <a:prstGeom prst="rect">
            <a:avLst/>
          </a:prstGeom>
          <a:noFill/>
        </p:spPr>
        <p:txBody>
          <a:bodyPr wrap="square" lIns="0" tIns="0" rIns="0" bIns="0" rtlCol="0" anchor="t"/>
          <a:lstStyle/>
          <a:p>
            <a:pPr marL="0" indent="0" algn="ctr">
              <a:buNone/>
            </a:pPr>
            <a:r>
              <a:rPr lang="en-US" sz="1200" dirty="0">
                <a:solidFill>
                  <a:schemeClr val="accent6"/>
                </a:solidFill>
              </a:rPr>
              <a:t>one hand</a:t>
            </a:r>
            <a:endParaRPr lang="en-US" sz="1200" dirty="0"/>
          </a:p>
        </p:txBody>
      </p:sp>
      <p:sp>
        <p:nvSpPr>
          <p:cNvPr id="40" name="Takeaway card"/>
          <p:cNvSpPr/>
          <p:nvPr/>
        </p:nvSpPr>
        <p:spPr>
          <a:xfrm>
            <a:off x="7132320" y="2971800"/>
            <a:ext cx="1554480" cy="1691640"/>
          </a:xfrm>
          <a:prstGeom prst="roundRect">
            <a:avLst>
              <a:gd name="adj" fmla="val 4706"/>
            </a:avLst>
          </a:prstGeom>
          <a:solidFill>
            <a:schemeClr val="tx2"/>
          </a:solidFill>
        </p:spPr>
      </p:sp>
      <p:sp>
        <p:nvSpPr>
          <p:cNvPr id="41" name="Text 29"/>
          <p:cNvSpPr txBox="1"/>
          <p:nvPr/>
        </p:nvSpPr>
        <p:spPr>
          <a:xfrm>
            <a:off x="7269480" y="2971800"/>
            <a:ext cx="1280160" cy="1691640"/>
          </a:xfrm>
          <a:prstGeom prst="rect">
            <a:avLst/>
          </a:prstGeom>
          <a:noFill/>
        </p:spPr>
        <p:txBody>
          <a:bodyPr wrap="square" lIns="0" tIns="0" rIns="0" bIns="0" rtlCol="0" anchor="ctr"/>
          <a:lstStyle/>
          <a:p>
            <a:pPr marL="0" indent="0">
              <a:buNone/>
            </a:pPr>
            <a:r>
              <a:rPr lang="en-US" sz="1400" b="1" dirty="0">
                <a:solidFill>
                  <a:schemeClr val="bg1"/>
                </a:solidFill>
              </a:rPr>
              <a:t>4 of these 9 letters need both hands</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Classification results</a:t>
            </a:r>
            <a:endParaRPr lang="en-US" sz="3000" dirty="0"/>
          </a:p>
        </p:txBody>
      </p:sp>
      <p:graphicFrame>
        <p:nvGraphicFramePr>
          <p:cNvPr id="4" name="Chart 0"/>
          <p:cNvGraphicFramePr/>
          <p:nvPr/>
        </p:nvGraphicFramePr>
        <p:xfrm>
          <a:off x="457200" y="1143000"/>
          <a:ext cx="5120640" cy="3383280"/>
        </p:xfrm>
        <a:graphic>
          <a:graphicData uri="http://schemas.openxmlformats.org/drawingml/2006/chart">
            <c:chart xmlns:c="http://schemas.openxmlformats.org/drawingml/2006/chart" xmlns:r="http://schemas.openxmlformats.org/officeDocument/2006/relationships" r:id="rId1"/>
          </a:graphicData>
        </a:graphic>
      </p:graphicFrame>
      <p:sp>
        <p:nvSpPr>
          <p:cNvPr id="5" name="Stat card accuracy"/>
          <p:cNvSpPr/>
          <p:nvPr/>
        </p:nvSpPr>
        <p:spPr>
          <a:xfrm>
            <a:off x="5760720" y="1188720"/>
            <a:ext cx="2926080" cy="1005840"/>
          </a:xfrm>
          <a:prstGeom prst="roundRect">
            <a:avLst>
              <a:gd name="adj" fmla="val 7273"/>
            </a:avLst>
          </a:prstGeom>
          <a:solidFill>
            <a:schemeClr val="bg2"/>
          </a:solidFill>
        </p:spPr>
      </p:sp>
      <p:sp>
        <p:nvSpPr>
          <p:cNvPr id="6" name="Text 2"/>
          <p:cNvSpPr txBox="1"/>
          <p:nvPr/>
        </p:nvSpPr>
        <p:spPr>
          <a:xfrm>
            <a:off x="5943600" y="1234440"/>
            <a:ext cx="2560320" cy="594360"/>
          </a:xfrm>
          <a:prstGeom prst="rect">
            <a:avLst/>
          </a:prstGeom>
          <a:noFill/>
        </p:spPr>
        <p:txBody>
          <a:bodyPr wrap="square" lIns="0" tIns="0" rIns="0" bIns="0" rtlCol="0" anchor="ctr"/>
          <a:lstStyle/>
          <a:p>
            <a:pPr marL="0" indent="0">
              <a:buNone/>
            </a:pPr>
            <a:r>
              <a:rPr lang="en-US" sz="3600" b="1" dirty="0">
                <a:solidFill>
                  <a:schemeClr val="tx2"/>
                </a:solidFill>
              </a:rPr>
              <a:t>85.2%</a:t>
            </a:r>
            <a:endParaRPr lang="en-US" sz="3600" dirty="0"/>
          </a:p>
        </p:txBody>
      </p:sp>
      <p:sp>
        <p:nvSpPr>
          <p:cNvPr id="7" name="Text 3"/>
          <p:cNvSpPr txBox="1"/>
          <p:nvPr/>
        </p:nvSpPr>
        <p:spPr>
          <a:xfrm>
            <a:off x="5943600" y="1828800"/>
            <a:ext cx="2560320" cy="274320"/>
          </a:xfrm>
          <a:prstGeom prst="rect">
            <a:avLst/>
          </a:prstGeom>
          <a:noFill/>
        </p:spPr>
        <p:txBody>
          <a:bodyPr wrap="square" lIns="0" tIns="0" rIns="0" bIns="0" rtlCol="0" anchor="t"/>
          <a:lstStyle/>
          <a:p>
            <a:pPr marL="0" indent="0">
              <a:buNone/>
            </a:pPr>
            <a:r>
              <a:rPr lang="en-US" sz="1400" dirty="0">
                <a:solidFill>
                  <a:schemeClr val="tx1"/>
                </a:solidFill>
              </a:rPr>
              <a:t>test accuracy, 45 classes</a:t>
            </a:r>
            <a:endParaRPr lang="en-US" sz="1400" dirty="0"/>
          </a:p>
        </p:txBody>
      </p:sp>
      <p:sp>
        <p:nvSpPr>
          <p:cNvPr id="8" name="Stat card F1"/>
          <p:cNvSpPr/>
          <p:nvPr/>
        </p:nvSpPr>
        <p:spPr>
          <a:xfrm>
            <a:off x="5760720" y="2331720"/>
            <a:ext cx="2926080" cy="1005840"/>
          </a:xfrm>
          <a:prstGeom prst="roundRect">
            <a:avLst>
              <a:gd name="adj" fmla="val 7273"/>
            </a:avLst>
          </a:prstGeom>
          <a:solidFill>
            <a:schemeClr val="bg2"/>
          </a:solidFill>
        </p:spPr>
      </p:sp>
      <p:sp>
        <p:nvSpPr>
          <p:cNvPr id="9" name="Text 5"/>
          <p:cNvSpPr txBox="1"/>
          <p:nvPr/>
        </p:nvSpPr>
        <p:spPr>
          <a:xfrm>
            <a:off x="5943600" y="2377440"/>
            <a:ext cx="2560320" cy="594360"/>
          </a:xfrm>
          <a:prstGeom prst="rect">
            <a:avLst/>
          </a:prstGeom>
          <a:noFill/>
        </p:spPr>
        <p:txBody>
          <a:bodyPr wrap="square" lIns="0" tIns="0" rIns="0" bIns="0" rtlCol="0" anchor="ctr"/>
          <a:lstStyle/>
          <a:p>
            <a:pPr marL="0" indent="0">
              <a:buNone/>
            </a:pPr>
            <a:r>
              <a:rPr lang="en-US" sz="3600" b="1" dirty="0">
                <a:solidFill>
                  <a:schemeClr val="tx2"/>
                </a:solidFill>
              </a:rPr>
              <a:t>84.8%</a:t>
            </a:r>
            <a:endParaRPr lang="en-US" sz="3600" dirty="0"/>
          </a:p>
        </p:txBody>
      </p:sp>
      <p:sp>
        <p:nvSpPr>
          <p:cNvPr id="10" name="Text 6"/>
          <p:cNvSpPr txBox="1"/>
          <p:nvPr/>
        </p:nvSpPr>
        <p:spPr>
          <a:xfrm>
            <a:off x="5943600" y="2971800"/>
            <a:ext cx="2560320" cy="274320"/>
          </a:xfrm>
          <a:prstGeom prst="rect">
            <a:avLst/>
          </a:prstGeom>
          <a:noFill/>
        </p:spPr>
        <p:txBody>
          <a:bodyPr wrap="square" lIns="0" tIns="0" rIns="0" bIns="0" rtlCol="0" anchor="t"/>
          <a:lstStyle/>
          <a:p>
            <a:pPr marL="0" indent="0">
              <a:buNone/>
            </a:pPr>
            <a:r>
              <a:rPr lang="en-US" sz="1400" dirty="0">
                <a:solidFill>
                  <a:schemeClr val="tx1"/>
                </a:solidFill>
              </a:rPr>
              <a:t>macro F1-score</a:t>
            </a:r>
            <a:endParaRPr lang="en-US" sz="1400" dirty="0"/>
          </a:p>
        </p:txBody>
      </p:sp>
      <p:sp>
        <p:nvSpPr>
          <p:cNvPr id="11" name="Class extremes card"/>
          <p:cNvSpPr/>
          <p:nvPr/>
        </p:nvSpPr>
        <p:spPr>
          <a:xfrm>
            <a:off x="5760720" y="3474720"/>
            <a:ext cx="2926080" cy="1005840"/>
          </a:xfrm>
          <a:prstGeom prst="roundRect">
            <a:avLst>
              <a:gd name="adj" fmla="val 7273"/>
            </a:avLst>
          </a:prstGeom>
          <a:solidFill>
            <a:schemeClr val="bg2"/>
          </a:solidFill>
        </p:spPr>
      </p:sp>
      <p:sp>
        <p:nvSpPr>
          <p:cNvPr id="12" name="Text 8"/>
          <p:cNvSpPr txBox="1"/>
          <p:nvPr/>
        </p:nvSpPr>
        <p:spPr>
          <a:xfrm>
            <a:off x="5943600" y="3474720"/>
            <a:ext cx="2651760" cy="1005840"/>
          </a:xfrm>
          <a:prstGeom prst="rect">
            <a:avLst/>
          </a:prstGeom>
          <a:noFill/>
        </p:spPr>
        <p:txBody>
          <a:bodyPr wrap="square" lIns="0" tIns="0" rIns="0" bIns="0" rtlCol="0" anchor="ctr"/>
          <a:lstStyle/>
          <a:p>
            <a:pPr marL="0" indent="0">
              <a:buNone/>
            </a:pPr>
            <a:r>
              <a:rPr lang="en-US" sz="1400" b="1" dirty="0">
                <a:solidFill>
                  <a:schemeClr val="tx1"/>
                </a:solidFill>
              </a:rPr>
              <a:t>Best: L, F1 94.6</a:t>
            </a:r>
            <a:endParaRPr lang="en-US" sz="1400" dirty="0"/>
          </a:p>
          <a:p>
            <a:pPr marL="0" indent="0">
              <a:buNone/>
            </a:pPr>
            <a:r>
              <a:rPr lang="en-US" sz="1400" dirty="0">
                <a:solidFill>
                  <a:schemeClr val="tx1"/>
                </a:solidFill>
              </a:rPr>
              <a:t>Weakest: Thank You, F1 82.1</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27.2 ms end to end, about 37 FPS</a:t>
            </a:r>
            <a:endParaRPr lang="en-US" sz="3000" dirty="0"/>
          </a:p>
        </p:txBody>
      </p:sp>
      <p:graphicFrame>
        <p:nvGraphicFramePr>
          <p:cNvPr id="4" name="Chart 0"/>
          <p:cNvGraphicFramePr/>
          <p:nvPr/>
        </p:nvGraphicFramePr>
        <p:xfrm>
          <a:off x="457200" y="1143000"/>
          <a:ext cx="5120640" cy="3383280"/>
        </p:xfrm>
        <a:graphic>
          <a:graphicData uri="http://schemas.openxmlformats.org/drawingml/2006/chart">
            <c:chart xmlns:c="http://schemas.openxmlformats.org/drawingml/2006/chart" xmlns:r="http://schemas.openxmlformats.org/officeDocument/2006/relationships" r:id="rId1"/>
          </a:graphicData>
        </a:graphic>
      </p:graphicFrame>
      <p:sp>
        <p:nvSpPr>
          <p:cNvPr id="5" name="Stat card latency"/>
          <p:cNvSpPr/>
          <p:nvPr/>
        </p:nvSpPr>
        <p:spPr>
          <a:xfrm>
            <a:off x="5760720" y="1188720"/>
            <a:ext cx="2926080" cy="1005840"/>
          </a:xfrm>
          <a:prstGeom prst="roundRect">
            <a:avLst>
              <a:gd name="adj" fmla="val 7273"/>
            </a:avLst>
          </a:prstGeom>
          <a:solidFill>
            <a:schemeClr val="bg2"/>
          </a:solidFill>
        </p:spPr>
      </p:sp>
      <p:sp>
        <p:nvSpPr>
          <p:cNvPr id="6" name="Text 2"/>
          <p:cNvSpPr txBox="1"/>
          <p:nvPr/>
        </p:nvSpPr>
        <p:spPr>
          <a:xfrm>
            <a:off x="5943600" y="1234440"/>
            <a:ext cx="2560320" cy="594360"/>
          </a:xfrm>
          <a:prstGeom prst="rect">
            <a:avLst/>
          </a:prstGeom>
          <a:noFill/>
        </p:spPr>
        <p:txBody>
          <a:bodyPr wrap="square" lIns="0" tIns="0" rIns="0" bIns="0" rtlCol="0" anchor="ctr"/>
          <a:lstStyle/>
          <a:p>
            <a:pPr marL="0" indent="0">
              <a:buNone/>
            </a:pPr>
            <a:r>
              <a:rPr lang="en-US" sz="3600" b="1" dirty="0">
                <a:solidFill>
                  <a:schemeClr val="tx2"/>
                </a:solidFill>
              </a:rPr>
              <a:t>27.2 ms</a:t>
            </a:r>
            <a:endParaRPr lang="en-US" sz="3600" dirty="0"/>
          </a:p>
        </p:txBody>
      </p:sp>
      <p:sp>
        <p:nvSpPr>
          <p:cNvPr id="7" name="Text 3"/>
          <p:cNvSpPr txBox="1"/>
          <p:nvPr/>
        </p:nvSpPr>
        <p:spPr>
          <a:xfrm>
            <a:off x="5943600" y="1828800"/>
            <a:ext cx="2560320" cy="274320"/>
          </a:xfrm>
          <a:prstGeom prst="rect">
            <a:avLst/>
          </a:prstGeom>
          <a:noFill/>
        </p:spPr>
        <p:txBody>
          <a:bodyPr wrap="square" lIns="0" tIns="0" rIns="0" bIns="0" rtlCol="0" anchor="t"/>
          <a:lstStyle/>
          <a:p>
            <a:pPr marL="0" indent="0">
              <a:buNone/>
            </a:pPr>
            <a:r>
              <a:rPr lang="en-US" sz="1400" dirty="0">
                <a:solidFill>
                  <a:schemeClr val="tx1"/>
                </a:solidFill>
              </a:rPr>
              <a:t>total per frame</a:t>
            </a:r>
            <a:endParaRPr lang="en-US" sz="1400" dirty="0"/>
          </a:p>
        </p:txBody>
      </p:sp>
      <p:sp>
        <p:nvSpPr>
          <p:cNvPr id="8" name="Stat card FPS"/>
          <p:cNvSpPr/>
          <p:nvPr/>
        </p:nvSpPr>
        <p:spPr>
          <a:xfrm>
            <a:off x="5760720" y="2331720"/>
            <a:ext cx="2926080" cy="1005840"/>
          </a:xfrm>
          <a:prstGeom prst="roundRect">
            <a:avLst>
              <a:gd name="adj" fmla="val 7273"/>
            </a:avLst>
          </a:prstGeom>
          <a:solidFill>
            <a:schemeClr val="bg2"/>
          </a:solidFill>
        </p:spPr>
      </p:sp>
      <p:sp>
        <p:nvSpPr>
          <p:cNvPr id="9" name="Text 5"/>
          <p:cNvSpPr txBox="1"/>
          <p:nvPr/>
        </p:nvSpPr>
        <p:spPr>
          <a:xfrm>
            <a:off x="5943600" y="2377440"/>
            <a:ext cx="2560320" cy="594360"/>
          </a:xfrm>
          <a:prstGeom prst="rect">
            <a:avLst/>
          </a:prstGeom>
          <a:noFill/>
        </p:spPr>
        <p:txBody>
          <a:bodyPr wrap="square" lIns="0" tIns="0" rIns="0" bIns="0" rtlCol="0" anchor="ctr"/>
          <a:lstStyle/>
          <a:p>
            <a:pPr marL="0" indent="0">
              <a:buNone/>
            </a:pPr>
            <a:r>
              <a:rPr lang="en-US" sz="3600" b="1" dirty="0">
                <a:solidFill>
                  <a:schemeClr val="tx2"/>
                </a:solidFill>
              </a:rPr>
              <a:t>36.8 FPS</a:t>
            </a:r>
            <a:endParaRPr lang="en-US" sz="3600" dirty="0"/>
          </a:p>
        </p:txBody>
      </p:sp>
      <p:sp>
        <p:nvSpPr>
          <p:cNvPr id="10" name="Text 6"/>
          <p:cNvSpPr txBox="1"/>
          <p:nvPr/>
        </p:nvSpPr>
        <p:spPr>
          <a:xfrm>
            <a:off x="5943600" y="2971800"/>
            <a:ext cx="2560320" cy="274320"/>
          </a:xfrm>
          <a:prstGeom prst="rect">
            <a:avLst/>
          </a:prstGeom>
          <a:noFill/>
        </p:spPr>
        <p:txBody>
          <a:bodyPr wrap="square" lIns="0" tIns="0" rIns="0" bIns="0" rtlCol="0" anchor="t"/>
          <a:lstStyle/>
          <a:p>
            <a:pPr marL="0" indent="0">
              <a:buNone/>
            </a:pPr>
            <a:r>
              <a:rPr lang="en-US" sz="1400" dirty="0">
                <a:solidFill>
                  <a:schemeClr val="tx1"/>
                </a:solidFill>
              </a:rPr>
              <a:t>above the 30 FPS camera</a:t>
            </a:r>
            <a:endParaRPr lang="en-US" sz="1400" dirty="0"/>
          </a:p>
        </p:txBody>
      </p:sp>
      <p:sp>
        <p:nvSpPr>
          <p:cNvPr id="11" name="Stat card MediaPipe share"/>
          <p:cNvSpPr/>
          <p:nvPr/>
        </p:nvSpPr>
        <p:spPr>
          <a:xfrm>
            <a:off x="5760720" y="3474720"/>
            <a:ext cx="2926080" cy="1005840"/>
          </a:xfrm>
          <a:prstGeom prst="roundRect">
            <a:avLst>
              <a:gd name="adj" fmla="val 7273"/>
            </a:avLst>
          </a:prstGeom>
          <a:solidFill>
            <a:schemeClr val="bg2"/>
          </a:solidFill>
        </p:spPr>
      </p:sp>
      <p:sp>
        <p:nvSpPr>
          <p:cNvPr id="12" name="Text 8"/>
          <p:cNvSpPr txBox="1"/>
          <p:nvPr/>
        </p:nvSpPr>
        <p:spPr>
          <a:xfrm>
            <a:off x="5943600" y="3474720"/>
            <a:ext cx="2560320" cy="1005840"/>
          </a:xfrm>
          <a:prstGeom prst="rect">
            <a:avLst/>
          </a:prstGeom>
          <a:noFill/>
        </p:spPr>
        <p:txBody>
          <a:bodyPr wrap="square" lIns="0" tIns="0" rIns="0" bIns="0" rtlCol="0" anchor="ctr"/>
          <a:lstStyle/>
          <a:p>
            <a:pPr marL="0" indent="0">
              <a:buNone/>
            </a:pPr>
            <a:r>
              <a:rPr lang="en-US" sz="2800" b="1" dirty="0">
                <a:solidFill>
                  <a:schemeClr val="tx1"/>
                </a:solidFill>
              </a:rPr>
              <a:t>46%</a:t>
            </a:r>
            <a:endParaRPr lang="en-US" sz="2800" dirty="0"/>
          </a:p>
          <a:p>
            <a:pPr marL="0" indent="0">
              <a:buNone/>
            </a:pPr>
            <a:r>
              <a:rPr lang="en-US" sz="1400" dirty="0">
                <a:solidFill>
                  <a:schemeClr val="tx1"/>
                </a:solidFill>
              </a:rPr>
              <a:t>of time is MediaPipe</a:t>
            </a:r>
            <a:endParaRPr lang="en-US" sz="28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457200" y="27432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How it compares with the literature</a:t>
            </a:r>
            <a:endParaRPr lang="en-US" sz="3000" dirty="0"/>
          </a:p>
        </p:txBody>
      </p:sp>
      <p:graphicFrame>
        <p:nvGraphicFramePr>
          <p:cNvPr id="17" name="Table 0"/>
          <p:cNvGraphicFramePr>
            <a:graphicFrameLocks noGrp="1"/>
          </p:cNvGraphicFramePr>
          <p:nvPr/>
        </p:nvGraphicFramePr>
        <p:xfrm>
          <a:off x="457200" y="1188720"/>
          <a:ext cx="8229600" cy="2962656"/>
        </p:xfrm>
        <a:graphic>
          <a:graphicData uri="http://schemas.openxmlformats.org/drawingml/2006/table">
            <a:tbl>
              <a:tblPr/>
              <a:tblGrid>
                <a:gridCol w="2377440"/>
                <a:gridCol w="3200400"/>
                <a:gridCol w="1280160"/>
                <a:gridCol w="1371600"/>
              </a:tblGrid>
              <a:tr h="329184">
                <a:tc>
                  <a:txBody>
                    <a:bodyPr/>
                    <a:lstStyle/>
                    <a:p>
                      <a:pPr marL="0" indent="0">
                        <a:buNone/>
                      </a:pPr>
                      <a:r>
                        <a:rPr lang="en-US" sz="1400" b="1" dirty="0">
                          <a:solidFill>
                            <a:schemeClr val="bg1"/>
                          </a:solidFill>
                        </a:rPr>
                        <a:t>Study</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Method</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Classes</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Accuracy</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r>
              <a:tr h="329184">
                <a:tc>
                  <a:txBody>
                    <a:bodyPr/>
                    <a:lstStyle/>
                    <a:p>
                      <a:pPr marL="0" indent="0" algn="l">
                        <a:buNone/>
                      </a:pPr>
                      <a:r>
                        <a:rPr lang="en-US" sz="1400" dirty="0">
                          <a:solidFill>
                            <a:schemeClr val="tx1"/>
                          </a:solidFill>
                        </a:rPr>
                        <a:t>Singhal et al. 2023</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400" dirty="0">
                          <a:solidFill>
                            <a:schemeClr val="tx1"/>
                          </a:solidFill>
                        </a:rPr>
                        <a:t>MediaPipe + Random Forest</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35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99.95%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marL="0" indent="0" algn="l">
                        <a:buNone/>
                      </a:pPr>
                      <a:r>
                        <a:rPr lang="en-US" sz="1400" dirty="0">
                          <a:solidFill>
                            <a:schemeClr val="tx1"/>
                          </a:solidFill>
                        </a:rPr>
                        <a:t>Katoch et al. 2022</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400" dirty="0">
                          <a:solidFill>
                            <a:schemeClr val="tx1"/>
                          </a:solidFill>
                        </a:rPr>
                        <a:t>SURF + SVM</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35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99.17%</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marL="0" indent="0" algn="l">
                        <a:buNone/>
                      </a:pPr>
                      <a:r>
                        <a:rPr lang="en-US" sz="1400" dirty="0">
                          <a:solidFill>
                            <a:schemeClr val="tx1"/>
                          </a:solidFill>
                        </a:rPr>
                        <a:t>Awalkar et al. 2025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400" dirty="0">
                          <a:solidFill>
                            <a:schemeClr val="tx1"/>
                          </a:solidFill>
                        </a:rPr>
                        <a:t>Dual MediaPipe + Random Forest</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23</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98.20%</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marL="0" indent="0" algn="l">
                        <a:buNone/>
                      </a:pPr>
                      <a:r>
                        <a:rPr lang="en-US" sz="1400" dirty="0">
                          <a:solidFill>
                            <a:schemeClr val="tx1"/>
                          </a:solidFill>
                        </a:rPr>
                        <a:t>Khakha et al. 2026</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400" dirty="0">
                          <a:solidFill>
                            <a:schemeClr val="tx1"/>
                          </a:solidFill>
                        </a:rPr>
                        <a:t>Self-attention Transformer</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26</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97.40%</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marL="0" indent="0" algn="l">
                        <a:buNone/>
                      </a:pPr>
                      <a:r>
                        <a:rPr lang="en-US" sz="1400" dirty="0">
                          <a:solidFill>
                            <a:schemeClr val="tx1"/>
                          </a:solidFill>
                        </a:rPr>
                        <a:t>Rawat et al. 2024</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400" dirty="0">
                          <a:solidFill>
                            <a:schemeClr val="tx1"/>
                          </a:solidFill>
                        </a:rPr>
                        <a:t>MediaPipe + LSTM</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35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96.97%</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marL="0" indent="0" algn="l">
                        <a:buNone/>
                      </a:pPr>
                      <a:r>
                        <a:rPr lang="en-US" sz="1400" dirty="0">
                          <a:solidFill>
                            <a:schemeClr val="tx1"/>
                          </a:solidFill>
                        </a:rPr>
                        <a:t>Mishra et al. 2025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400" dirty="0">
                          <a:solidFill>
                            <a:schemeClr val="tx1"/>
                          </a:solidFill>
                        </a:rPr>
                        <a:t>MediaPipe + Random Forest</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36</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94.50%</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marL="0" indent="0" algn="l">
                        <a:buNone/>
                      </a:pPr>
                      <a:r>
                        <a:rPr lang="en-US" sz="1400" dirty="0">
                          <a:solidFill>
                            <a:schemeClr val="tx1"/>
                          </a:solidFill>
                        </a:rPr>
                        <a:t>Vashisth et al. 2023</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400" dirty="0">
                          <a:solidFill>
                            <a:schemeClr val="tx1"/>
                          </a:solidFill>
                        </a:rPr>
                        <a:t>Deep CNN on raw RGB</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35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chemeClr val="tx1"/>
                          </a:solidFill>
                        </a:rPr>
                        <a:t>92.83%</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marL="0" indent="0" algn="l">
                        <a:buNone/>
                      </a:pPr>
                      <a:r>
                        <a:rPr lang="en-US" sz="1400" b="1" dirty="0">
                          <a:solidFill>
                            <a:schemeClr val="tx1"/>
                          </a:solidFill>
                        </a:rPr>
                        <a:t>This work</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marL="0" indent="0" algn="l">
                        <a:buNone/>
                      </a:pPr>
                      <a:r>
                        <a:rPr lang="en-US" sz="1400" b="1" dirty="0">
                          <a:solidFill>
                            <a:schemeClr val="tx1"/>
                          </a:solidFill>
                        </a:rPr>
                        <a:t>156-D bimanual features + RF</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tx1"/>
                          </a:solidFill>
                        </a:rPr>
                        <a:t>45</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tx1"/>
                          </a:solidFill>
                        </a:rPr>
                        <a:t>85.2%</a:t>
                      </a:r>
                      <a:endParaRPr lang="en-US" sz="1400" dirty="0"/>
                    </a:p>
                  </a:txBody>
                  <a:tcPr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r>
            </a:tbl>
          </a:graphicData>
        </a:graphic>
      </p:graphicFrame>
      <p:sp>
        <p:nvSpPr>
          <p:cNvPr id="5" name="Text 1"/>
          <p:cNvSpPr txBox="1"/>
          <p:nvPr/>
        </p:nvSpPr>
        <p:spPr>
          <a:xfrm>
            <a:off x="457200" y="4251960"/>
            <a:ext cx="8229600" cy="320040"/>
          </a:xfrm>
          <a:prstGeom prst="rect">
            <a:avLst/>
          </a:prstGeom>
          <a:noFill/>
        </p:spPr>
        <p:txBody>
          <a:bodyPr wrap="square" lIns="0" tIns="0" rIns="0" bIns="0" rtlCol="0" anchor="t"/>
          <a:lstStyle/>
          <a:p>
            <a:pPr marL="0" indent="0">
              <a:buNone/>
            </a:pPr>
            <a:r>
              <a:rPr lang="en-US" sz="1400" b="1" dirty="0">
                <a:solidFill>
                  <a:schemeClr val="tx2"/>
                </a:solidFill>
              </a:rPr>
              <a:t>Smaller vocabularies score higher; this system covers 45 classes, including two-hand signs.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6"/>
                </a:solidFill>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274320"/>
            <a:ext cx="8046720" cy="731520"/>
          </a:xfrm>
          <a:prstGeom prst="rect">
            <a:avLst/>
          </a:prstGeom>
          <a:noFill/>
        </p:spPr>
        <p:txBody>
          <a:bodyPr wrap="square" lIns="0" tIns="0" rIns="0" bIns="0" rtlCol="0" anchor="ctr"/>
          <a:lstStyle/>
          <a:p>
            <a:pPr marL="0" indent="0" algn="l">
              <a:buNone/>
            </a:pPr>
            <a:r>
              <a:rPr lang="en-US" sz="3000" b="1" dirty="0">
                <a:solidFill>
                  <a:schemeClr val="bg1"/>
                </a:solidFill>
              </a:rPr>
              <a:t>Conclusion and future work</a:t>
            </a:r>
            <a:endParaRPr lang="en-US" sz="3000" dirty="0"/>
          </a:p>
        </p:txBody>
      </p:sp>
      <p:sp>
        <p:nvSpPr>
          <p:cNvPr id="4" name="Text 1"/>
          <p:cNvSpPr txBox="1"/>
          <p:nvPr/>
        </p:nvSpPr>
        <p:spPr>
          <a:xfrm>
            <a:off x="548640" y="1143000"/>
            <a:ext cx="3840480" cy="320040"/>
          </a:xfrm>
          <a:prstGeom prst="rect">
            <a:avLst/>
          </a:prstGeom>
          <a:noFill/>
        </p:spPr>
        <p:txBody>
          <a:bodyPr wrap="square" lIns="0" tIns="0" rIns="0" bIns="0" rtlCol="0" anchor="t"/>
          <a:lstStyle/>
          <a:p>
            <a:pPr marL="0" indent="0">
              <a:buNone/>
            </a:pPr>
            <a:r>
              <a:rPr lang="en-US" sz="1800" b="1" dirty="0">
                <a:solidFill>
                  <a:schemeClr val="accent2"/>
                </a:solidFill>
              </a:rPr>
              <a:t>Delivered</a:t>
            </a:r>
            <a:endParaRPr lang="en-US" sz="1800" dirty="0"/>
          </a:p>
        </p:txBody>
      </p:sp>
      <p:sp>
        <p:nvSpPr>
          <p:cNvPr id="5" name="Text 2"/>
          <p:cNvSpPr txBox="1"/>
          <p:nvPr/>
        </p:nvSpPr>
        <p:spPr>
          <a:xfrm>
            <a:off x="4754880" y="1143000"/>
            <a:ext cx="3840480" cy="320040"/>
          </a:xfrm>
          <a:prstGeom prst="rect">
            <a:avLst/>
          </a:prstGeom>
          <a:noFill/>
        </p:spPr>
        <p:txBody>
          <a:bodyPr wrap="square" lIns="0" tIns="0" rIns="0" bIns="0" rtlCol="0" anchor="t"/>
          <a:lstStyle/>
          <a:p>
            <a:pPr marL="0" indent="0">
              <a:buNone/>
            </a:pPr>
            <a:r>
              <a:rPr lang="en-US" sz="1800" b="1" dirty="0">
                <a:solidFill>
                  <a:schemeClr val="accent2"/>
                </a:solidFill>
              </a:rPr>
              <a:t>Next</a:t>
            </a:r>
            <a:endParaRPr lang="en-US" sz="1800" dirty="0"/>
          </a:p>
        </p:txBody>
      </p:sp>
      <p:sp>
        <p:nvSpPr>
          <p:cNvPr id="6" name="Delivered icon 1 circle"/>
          <p:cNvSpPr/>
          <p:nvPr/>
        </p:nvSpPr>
        <p:spPr>
          <a:xfrm>
            <a:off x="548640" y="1691640"/>
            <a:ext cx="384048" cy="384048"/>
          </a:xfrm>
          <a:prstGeom prst="ellipse">
            <a:avLst/>
          </a:prstGeom>
          <a:solidFill>
            <a:schemeClr val="accent1"/>
          </a:solidFill>
        </p:spPr>
      </p:sp>
      <p:pic>
        <p:nvPicPr>
          <p:cNvPr id="7" name="Delivered icon 1" descr="Delivered icon 1"/>
          <p:cNvPicPr>
            <a:picLocks noChangeAspect="1"/>
          </p:cNvPicPr>
          <p:nvPr/>
        </p:nvPicPr>
        <p:blipFill>
          <a:blip r:embed="rId1"/>
          <a:stretch>
            <a:fillRect/>
          </a:stretch>
        </p:blipFill>
        <p:spPr>
          <a:xfrm>
            <a:off x="640812" y="1783812"/>
            <a:ext cx="199705" cy="199705"/>
          </a:xfrm>
          <a:prstGeom prst="rect">
            <a:avLst/>
          </a:prstGeom>
        </p:spPr>
      </p:pic>
      <p:sp>
        <p:nvSpPr>
          <p:cNvPr id="8" name="Text 4"/>
          <p:cNvSpPr txBox="1"/>
          <p:nvPr/>
        </p:nvSpPr>
        <p:spPr>
          <a:xfrm>
            <a:off x="1097280" y="1600200"/>
            <a:ext cx="3383280" cy="566928"/>
          </a:xfrm>
          <a:prstGeom prst="rect">
            <a:avLst/>
          </a:prstGeom>
          <a:noFill/>
        </p:spPr>
        <p:txBody>
          <a:bodyPr wrap="square" lIns="0" tIns="0" rIns="0" bIns="0" rtlCol="0" anchor="ctr"/>
          <a:lstStyle/>
          <a:p>
            <a:pPr marL="0" indent="0">
              <a:buNone/>
            </a:pPr>
            <a:r>
              <a:rPr lang="en-US" sz="1500" dirty="0">
                <a:solidFill>
                  <a:schemeClr val="bg1"/>
                </a:solidFill>
              </a:rPr>
              <a:t>Real-time ISL recognition in the browser, 45 classes</a:t>
            </a:r>
            <a:endParaRPr lang="en-US" sz="1500" dirty="0"/>
          </a:p>
        </p:txBody>
      </p:sp>
      <p:sp>
        <p:nvSpPr>
          <p:cNvPr id="9" name="Next icon 1 circle"/>
          <p:cNvSpPr/>
          <p:nvPr/>
        </p:nvSpPr>
        <p:spPr>
          <a:xfrm>
            <a:off x="4754880" y="1691640"/>
            <a:ext cx="384048" cy="384048"/>
          </a:xfrm>
          <a:prstGeom prst="ellipse">
            <a:avLst/>
          </a:prstGeom>
          <a:solidFill>
            <a:schemeClr val="accent2"/>
          </a:solidFill>
        </p:spPr>
      </p:sp>
      <p:pic>
        <p:nvPicPr>
          <p:cNvPr id="10" name="Next icon 1" descr="Next icon 1"/>
          <p:cNvPicPr>
            <a:picLocks noChangeAspect="1"/>
          </p:cNvPicPr>
          <p:nvPr/>
        </p:nvPicPr>
        <p:blipFill>
          <a:blip r:embed="rId2"/>
          <a:stretch>
            <a:fillRect/>
          </a:stretch>
        </p:blipFill>
        <p:spPr>
          <a:xfrm>
            <a:off x="4847052" y="1783812"/>
            <a:ext cx="199705" cy="199705"/>
          </a:xfrm>
          <a:prstGeom prst="rect">
            <a:avLst/>
          </a:prstGeom>
        </p:spPr>
      </p:pic>
      <p:sp>
        <p:nvSpPr>
          <p:cNvPr id="11" name="Text 6"/>
          <p:cNvSpPr txBox="1"/>
          <p:nvPr/>
        </p:nvSpPr>
        <p:spPr>
          <a:xfrm>
            <a:off x="5303520" y="1600200"/>
            <a:ext cx="3383280" cy="566928"/>
          </a:xfrm>
          <a:prstGeom prst="rect">
            <a:avLst/>
          </a:prstGeom>
          <a:noFill/>
        </p:spPr>
        <p:txBody>
          <a:bodyPr wrap="square" lIns="0" tIns="0" rIns="0" bIns="0" rtlCol="0" anchor="ctr"/>
          <a:lstStyle/>
          <a:p>
            <a:pPr marL="0" indent="0">
              <a:buNone/>
            </a:pPr>
            <a:r>
              <a:rPr lang="en-US" sz="1500" dirty="0">
                <a:solidFill>
                  <a:schemeClr val="bg1"/>
                </a:solidFill>
              </a:rPr>
              <a:t>Continuous signing with Transformers and CTC</a:t>
            </a:r>
            <a:endParaRPr lang="en-US" sz="1500" dirty="0"/>
          </a:p>
        </p:txBody>
      </p:sp>
      <p:sp>
        <p:nvSpPr>
          <p:cNvPr id="12" name="Delivered icon 2 circle"/>
          <p:cNvSpPr/>
          <p:nvPr/>
        </p:nvSpPr>
        <p:spPr>
          <a:xfrm>
            <a:off x="548640" y="2423160"/>
            <a:ext cx="384048" cy="384048"/>
          </a:xfrm>
          <a:prstGeom prst="ellipse">
            <a:avLst/>
          </a:prstGeom>
          <a:solidFill>
            <a:schemeClr val="accent1"/>
          </a:solidFill>
        </p:spPr>
      </p:sp>
      <p:pic>
        <p:nvPicPr>
          <p:cNvPr id="13" name="Delivered icon 2" descr="Delivered icon 2"/>
          <p:cNvPicPr>
            <a:picLocks noChangeAspect="1"/>
          </p:cNvPicPr>
          <p:nvPr/>
        </p:nvPicPr>
        <p:blipFill>
          <a:blip r:embed="rId1"/>
          <a:stretch>
            <a:fillRect/>
          </a:stretch>
        </p:blipFill>
        <p:spPr>
          <a:xfrm>
            <a:off x="640812" y="2515332"/>
            <a:ext cx="199705" cy="199705"/>
          </a:xfrm>
          <a:prstGeom prst="rect">
            <a:avLst/>
          </a:prstGeom>
        </p:spPr>
      </p:pic>
      <p:sp>
        <p:nvSpPr>
          <p:cNvPr id="14" name="Text 8"/>
          <p:cNvSpPr txBox="1"/>
          <p:nvPr/>
        </p:nvSpPr>
        <p:spPr>
          <a:xfrm>
            <a:off x="1097280" y="2331720"/>
            <a:ext cx="3383280" cy="566928"/>
          </a:xfrm>
          <a:prstGeom prst="rect">
            <a:avLst/>
          </a:prstGeom>
          <a:noFill/>
        </p:spPr>
        <p:txBody>
          <a:bodyPr wrap="square" lIns="0" tIns="0" rIns="0" bIns="0" rtlCol="0" anchor="ctr"/>
          <a:lstStyle/>
          <a:p>
            <a:pPr marL="0" indent="0">
              <a:buNone/>
            </a:pPr>
            <a:r>
              <a:rPr lang="en-US" sz="1500" dirty="0">
                <a:solidFill>
                  <a:schemeClr val="bg1"/>
                </a:solidFill>
              </a:rPr>
              <a:t>85.2% accuracy, 1.2 ms inference, 27.2 ms pipeline</a:t>
            </a:r>
            <a:endParaRPr lang="en-US" sz="1500" dirty="0"/>
          </a:p>
        </p:txBody>
      </p:sp>
      <p:sp>
        <p:nvSpPr>
          <p:cNvPr id="15" name="Next icon 2 circle"/>
          <p:cNvSpPr/>
          <p:nvPr/>
        </p:nvSpPr>
        <p:spPr>
          <a:xfrm>
            <a:off x="4754880" y="2423160"/>
            <a:ext cx="384048" cy="384048"/>
          </a:xfrm>
          <a:prstGeom prst="ellipse">
            <a:avLst/>
          </a:prstGeom>
          <a:solidFill>
            <a:schemeClr val="accent2"/>
          </a:solidFill>
        </p:spPr>
      </p:sp>
      <p:pic>
        <p:nvPicPr>
          <p:cNvPr id="16" name="Next icon 2" descr="Next icon 2"/>
          <p:cNvPicPr>
            <a:picLocks noChangeAspect="1"/>
          </p:cNvPicPr>
          <p:nvPr/>
        </p:nvPicPr>
        <p:blipFill>
          <a:blip r:embed="rId2"/>
          <a:stretch>
            <a:fillRect/>
          </a:stretch>
        </p:blipFill>
        <p:spPr>
          <a:xfrm>
            <a:off x="4847052" y="2515332"/>
            <a:ext cx="199705" cy="199705"/>
          </a:xfrm>
          <a:prstGeom prst="rect">
            <a:avLst/>
          </a:prstGeom>
        </p:spPr>
      </p:pic>
      <p:sp>
        <p:nvSpPr>
          <p:cNvPr id="17" name="Text 10"/>
          <p:cNvSpPr txBox="1"/>
          <p:nvPr/>
        </p:nvSpPr>
        <p:spPr>
          <a:xfrm>
            <a:off x="5303520" y="2331720"/>
            <a:ext cx="3383280" cy="566928"/>
          </a:xfrm>
          <a:prstGeom prst="rect">
            <a:avLst/>
          </a:prstGeom>
          <a:noFill/>
        </p:spPr>
        <p:txBody>
          <a:bodyPr wrap="square" lIns="0" tIns="0" rIns="0" bIns="0" rtlCol="0" anchor="ctr"/>
          <a:lstStyle/>
          <a:p>
            <a:pPr marL="0" indent="0">
              <a:buNone/>
            </a:pPr>
            <a:r>
              <a:rPr lang="en-US" sz="1500" dirty="0">
                <a:solidFill>
                  <a:schemeClr val="bg1"/>
                </a:solidFill>
              </a:rPr>
              <a:t>Face and body cues via MediaPipe Holistic</a:t>
            </a:r>
            <a:endParaRPr lang="en-US" sz="1500" dirty="0"/>
          </a:p>
        </p:txBody>
      </p:sp>
      <p:sp>
        <p:nvSpPr>
          <p:cNvPr id="18" name="Delivered icon 3 circle"/>
          <p:cNvSpPr/>
          <p:nvPr/>
        </p:nvSpPr>
        <p:spPr>
          <a:xfrm>
            <a:off x="548640" y="3154680"/>
            <a:ext cx="384048" cy="384048"/>
          </a:xfrm>
          <a:prstGeom prst="ellipse">
            <a:avLst/>
          </a:prstGeom>
          <a:solidFill>
            <a:schemeClr val="accent1"/>
          </a:solidFill>
        </p:spPr>
      </p:sp>
      <p:pic>
        <p:nvPicPr>
          <p:cNvPr id="19" name="Delivered icon 3" descr="Delivered icon 3"/>
          <p:cNvPicPr>
            <a:picLocks noChangeAspect="1"/>
          </p:cNvPicPr>
          <p:nvPr/>
        </p:nvPicPr>
        <p:blipFill>
          <a:blip r:embed="rId1"/>
          <a:stretch>
            <a:fillRect/>
          </a:stretch>
        </p:blipFill>
        <p:spPr>
          <a:xfrm>
            <a:off x="640812" y="3246852"/>
            <a:ext cx="199705" cy="199705"/>
          </a:xfrm>
          <a:prstGeom prst="rect">
            <a:avLst/>
          </a:prstGeom>
        </p:spPr>
      </p:pic>
      <p:sp>
        <p:nvSpPr>
          <p:cNvPr id="20" name="Text 12"/>
          <p:cNvSpPr txBox="1"/>
          <p:nvPr/>
        </p:nvSpPr>
        <p:spPr>
          <a:xfrm>
            <a:off x="1097280" y="3063240"/>
            <a:ext cx="3383280" cy="566928"/>
          </a:xfrm>
          <a:prstGeom prst="rect">
            <a:avLst/>
          </a:prstGeom>
          <a:noFill/>
        </p:spPr>
        <p:txBody>
          <a:bodyPr wrap="square" lIns="0" tIns="0" rIns="0" bIns="0" rtlCol="0" anchor="ctr"/>
          <a:lstStyle/>
          <a:p>
            <a:pPr marL="0" indent="0">
              <a:buNone/>
            </a:pPr>
            <a:r>
              <a:rPr lang="en-US" sz="1500" dirty="0">
                <a:solidFill>
                  <a:schemeClr val="bg1"/>
                </a:solidFill>
              </a:rPr>
              <a:t>Word error cut from 64.2% to 3.8% by hold-to-confirm</a:t>
            </a:r>
            <a:endParaRPr lang="en-US" sz="1500" dirty="0"/>
          </a:p>
        </p:txBody>
      </p:sp>
      <p:sp>
        <p:nvSpPr>
          <p:cNvPr id="21" name="Next icon 3 circle"/>
          <p:cNvSpPr/>
          <p:nvPr/>
        </p:nvSpPr>
        <p:spPr>
          <a:xfrm>
            <a:off x="4754880" y="3154680"/>
            <a:ext cx="384048" cy="384048"/>
          </a:xfrm>
          <a:prstGeom prst="ellipse">
            <a:avLst/>
          </a:prstGeom>
          <a:solidFill>
            <a:schemeClr val="accent2"/>
          </a:solidFill>
        </p:spPr>
      </p:sp>
      <p:pic>
        <p:nvPicPr>
          <p:cNvPr id="22" name="Next icon 3" descr="Next icon 3"/>
          <p:cNvPicPr>
            <a:picLocks noChangeAspect="1"/>
          </p:cNvPicPr>
          <p:nvPr/>
        </p:nvPicPr>
        <p:blipFill>
          <a:blip r:embed="rId2"/>
          <a:stretch>
            <a:fillRect/>
          </a:stretch>
        </p:blipFill>
        <p:spPr>
          <a:xfrm>
            <a:off x="4847052" y="3246852"/>
            <a:ext cx="199705" cy="199705"/>
          </a:xfrm>
          <a:prstGeom prst="rect">
            <a:avLst/>
          </a:prstGeom>
        </p:spPr>
      </p:pic>
      <p:sp>
        <p:nvSpPr>
          <p:cNvPr id="23" name="Text 14"/>
          <p:cNvSpPr txBox="1"/>
          <p:nvPr/>
        </p:nvSpPr>
        <p:spPr>
          <a:xfrm>
            <a:off x="5303520" y="3063240"/>
            <a:ext cx="3383280" cy="566928"/>
          </a:xfrm>
          <a:prstGeom prst="rect">
            <a:avLst/>
          </a:prstGeom>
          <a:noFill/>
        </p:spPr>
        <p:txBody>
          <a:bodyPr wrap="square" lIns="0" tIns="0" rIns="0" bIns="0" rtlCol="0" anchor="ctr"/>
          <a:lstStyle/>
          <a:p>
            <a:pPr marL="0" indent="0">
              <a:buNone/>
            </a:pPr>
            <a:r>
              <a:rPr lang="en-US" sz="1500" dirty="0">
                <a:solidFill>
                  <a:schemeClr val="bg1"/>
                </a:solidFill>
              </a:rPr>
              <a:t>In-browser inference with TF.js, ONNX, WebGPU</a:t>
            </a:r>
            <a:endParaRPr lang="en-US" sz="1500" dirty="0"/>
          </a:p>
        </p:txBody>
      </p:sp>
      <p:sp>
        <p:nvSpPr>
          <p:cNvPr id="24" name="Delivered icon 4 circle"/>
          <p:cNvSpPr/>
          <p:nvPr/>
        </p:nvSpPr>
        <p:spPr>
          <a:xfrm>
            <a:off x="548640" y="3886200"/>
            <a:ext cx="384048" cy="384048"/>
          </a:xfrm>
          <a:prstGeom prst="ellipse">
            <a:avLst/>
          </a:prstGeom>
          <a:solidFill>
            <a:schemeClr val="accent1"/>
          </a:solidFill>
        </p:spPr>
      </p:sp>
      <p:pic>
        <p:nvPicPr>
          <p:cNvPr id="25" name="Delivered icon 4" descr="Delivered icon 4"/>
          <p:cNvPicPr>
            <a:picLocks noChangeAspect="1"/>
          </p:cNvPicPr>
          <p:nvPr/>
        </p:nvPicPr>
        <p:blipFill>
          <a:blip r:embed="rId1"/>
          <a:stretch>
            <a:fillRect/>
          </a:stretch>
        </p:blipFill>
        <p:spPr>
          <a:xfrm>
            <a:off x="640812" y="3978372"/>
            <a:ext cx="199705" cy="199705"/>
          </a:xfrm>
          <a:prstGeom prst="rect">
            <a:avLst/>
          </a:prstGeom>
        </p:spPr>
      </p:pic>
      <p:sp>
        <p:nvSpPr>
          <p:cNvPr id="26" name="Text 16"/>
          <p:cNvSpPr txBox="1"/>
          <p:nvPr/>
        </p:nvSpPr>
        <p:spPr>
          <a:xfrm>
            <a:off x="1097280" y="3794760"/>
            <a:ext cx="3383280" cy="566928"/>
          </a:xfrm>
          <a:prstGeom prst="rect">
            <a:avLst/>
          </a:prstGeom>
          <a:noFill/>
        </p:spPr>
        <p:txBody>
          <a:bodyPr wrap="square" lIns="0" tIns="0" rIns="0" bIns="0" rtlCol="0" anchor="ctr"/>
          <a:lstStyle/>
          <a:p>
            <a:pPr marL="0" indent="0">
              <a:buNone/>
            </a:pPr>
            <a:r>
              <a:rPr lang="en-US" sz="1500" dirty="0">
                <a:solidFill>
                  <a:schemeClr val="bg1"/>
                </a:solidFill>
              </a:rPr>
              <a:t>Speech, text and YouTube to sign with 204 signs</a:t>
            </a:r>
            <a:endParaRPr lang="en-US" sz="1500" dirty="0"/>
          </a:p>
        </p:txBody>
      </p:sp>
      <p:sp>
        <p:nvSpPr>
          <p:cNvPr id="27" name="Next icon 4 circle"/>
          <p:cNvSpPr/>
          <p:nvPr/>
        </p:nvSpPr>
        <p:spPr>
          <a:xfrm>
            <a:off x="4754880" y="3886200"/>
            <a:ext cx="384048" cy="384048"/>
          </a:xfrm>
          <a:prstGeom prst="ellipse">
            <a:avLst/>
          </a:prstGeom>
          <a:solidFill>
            <a:schemeClr val="accent2"/>
          </a:solidFill>
        </p:spPr>
      </p:sp>
      <p:pic>
        <p:nvPicPr>
          <p:cNvPr id="28" name="Next icon 4" descr="Next icon 4"/>
          <p:cNvPicPr>
            <a:picLocks noChangeAspect="1"/>
          </p:cNvPicPr>
          <p:nvPr/>
        </p:nvPicPr>
        <p:blipFill>
          <a:blip r:embed="rId2"/>
          <a:stretch>
            <a:fillRect/>
          </a:stretch>
        </p:blipFill>
        <p:spPr>
          <a:xfrm>
            <a:off x="4847052" y="3978372"/>
            <a:ext cx="199705" cy="199705"/>
          </a:xfrm>
          <a:prstGeom prst="rect">
            <a:avLst/>
          </a:prstGeom>
        </p:spPr>
      </p:pic>
      <p:sp>
        <p:nvSpPr>
          <p:cNvPr id="29" name="Text 18"/>
          <p:cNvSpPr txBox="1"/>
          <p:nvPr/>
        </p:nvSpPr>
        <p:spPr>
          <a:xfrm>
            <a:off x="5303520" y="3794760"/>
            <a:ext cx="3383280" cy="566928"/>
          </a:xfrm>
          <a:prstGeom prst="rect">
            <a:avLst/>
          </a:prstGeom>
          <a:noFill/>
        </p:spPr>
        <p:txBody>
          <a:bodyPr wrap="square" lIns="0" tIns="0" rIns="0" bIns="0" rtlCol="0" anchor="ctr"/>
          <a:lstStyle/>
          <a:p>
            <a:pPr marL="0" indent="0">
              <a:buNone/>
            </a:pPr>
            <a:r>
              <a:rPr lang="en-US" sz="1500" dirty="0">
                <a:solidFill>
                  <a:schemeClr val="bg1"/>
                </a:solidFill>
              </a:rPr>
              <a:t>User studies with fluent deaf ISL signers</a:t>
            </a:r>
            <a:endParaRPr lang="en-US" sz="15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2"/>
                </a:solidFill>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274320"/>
            <a:ext cx="8046720" cy="731520"/>
          </a:xfrm>
          <a:prstGeom prst="rect">
            <a:avLst/>
          </a:prstGeom>
          <a:noFill/>
        </p:spPr>
        <p:txBody>
          <a:bodyPr wrap="square" lIns="0" tIns="0" rIns="0" bIns="0" rtlCol="0" anchor="ctr"/>
          <a:lstStyle/>
          <a:p>
            <a:pPr marL="0" indent="0" algn="l">
              <a:buNone/>
            </a:pPr>
            <a:r>
              <a:rPr lang="en-US" sz="3000" b="1" dirty="0">
                <a:solidFill>
                  <a:schemeClr val="bg1"/>
                </a:solidFill>
              </a:rPr>
              <a:t>Thank you</a:t>
            </a:r>
            <a:endParaRPr lang="en-US" sz="3000" dirty="0"/>
          </a:p>
        </p:txBody>
      </p:sp>
      <p:sp>
        <p:nvSpPr>
          <p:cNvPr id="4" name="Open hand icon circle"/>
          <p:cNvSpPr/>
          <p:nvPr/>
        </p:nvSpPr>
        <p:spPr>
          <a:xfrm>
            <a:off x="3474720" y="1463040"/>
            <a:ext cx="2194560" cy="2194560"/>
          </a:xfrm>
          <a:prstGeom prst="ellipse">
            <a:avLst/>
          </a:prstGeom>
          <a:solidFill>
            <a:schemeClr val="accent1"/>
          </a:solidFill>
        </p:spPr>
      </p:sp>
      <p:pic>
        <p:nvPicPr>
          <p:cNvPr id="5" name="Open hand icon" descr="Open hand icon"/>
          <p:cNvPicPr>
            <a:picLocks noChangeAspect="1"/>
          </p:cNvPicPr>
          <p:nvPr/>
        </p:nvPicPr>
        <p:blipFill>
          <a:blip r:embed="rId1"/>
          <a:stretch>
            <a:fillRect/>
          </a:stretch>
        </p:blipFill>
        <p:spPr>
          <a:xfrm>
            <a:off x="4001414" y="1989734"/>
            <a:ext cx="1141171" cy="1141171"/>
          </a:xfrm>
          <a:prstGeom prst="rect">
            <a:avLst/>
          </a:prstGeom>
        </p:spPr>
      </p:pic>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2"/>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ISL Vision">
  <a:themeElements>
    <a:clrScheme name="ISL Vision">
      <a:dk1>
        <a:srgbClr val="0F172A"/>
      </a:dk1>
      <a:lt1>
        <a:srgbClr val="FFFFFF"/>
      </a:lt1>
      <a:dk2>
        <a:srgbClr val="134E4A"/>
      </a:dk2>
      <a:lt2>
        <a:srgbClr val="F1F5F9"/>
      </a:lt2>
      <a:accent1>
        <a:srgbClr val="10B981"/>
      </a:accent1>
      <a:accent2>
        <a:srgbClr val="06B6D4"/>
      </a:accent2>
      <a:accent3>
        <a:srgbClr val="6366F1"/>
      </a:accent3>
      <a:accent4>
        <a:srgbClr val="F59E0B"/>
      </a:accent4>
      <a:accent5>
        <a:srgbClr val="EF4444"/>
      </a:accent5>
      <a:accent6>
        <a:srgbClr val="64748B"/>
      </a:accent6>
      <a:hlink>
        <a:srgbClr val="0EA5E9"/>
      </a:hlink>
      <a:folHlink>
        <a:srgbClr val="7C3AED"/>
      </a:folHlink>
    </a:clrScheme>
    <a:fontScheme name="ISL 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SL Vision">
  <a:themeElements>
    <a:clrScheme name="ISL Vision">
      <a:dk1>
        <a:srgbClr val="0F172A"/>
      </a:dk1>
      <a:lt1>
        <a:srgbClr val="FFFFFF"/>
      </a:lt1>
      <a:dk2>
        <a:srgbClr val="134E4A"/>
      </a:dk2>
      <a:lt2>
        <a:srgbClr val="F1F5F9"/>
      </a:lt2>
      <a:accent1>
        <a:srgbClr val="10B981"/>
      </a:accent1>
      <a:accent2>
        <a:srgbClr val="06B6D4"/>
      </a:accent2>
      <a:accent3>
        <a:srgbClr val="6366F1"/>
      </a:accent3>
      <a:accent4>
        <a:srgbClr val="F59E0B"/>
      </a:accent4>
      <a:accent5>
        <a:srgbClr val="EF4444"/>
      </a:accent5>
      <a:accent6>
        <a:srgbClr val="64748B"/>
      </a:accent6>
      <a:hlink>
        <a:srgbClr val="0EA5E9"/>
      </a:hlink>
      <a:folHlink>
        <a:srgbClr val="7C3AED"/>
      </a:folHlink>
    </a:clrScheme>
    <a:fontScheme name="ISL 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5066</Words>
  <Application>WPS Presentation</Application>
  <PresentationFormat>On-screen Show (16:9)</PresentationFormat>
  <Paragraphs>457</Paragraphs>
  <Slides>18</Slides>
  <Notes>18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Arial</vt:lpstr>
      <vt:lpstr>Cambria</vt:lpstr>
      <vt:lpstr>Calibri</vt:lpstr>
      <vt:lpstr>Microsoft YaHei</vt:lpstr>
      <vt:lpstr>Arial Unicode MS</vt:lpstr>
      <vt:lpstr>MS PGothic</vt:lpstr>
      <vt:lpstr>ISL Vision</vt:lpstr>
      <vt:lpstr>Real-Time Indian Sign Language Recognition and Bidirectional Translation System</vt:lpstr>
      <vt:lpstr>Why ISL needs a technology bridge</vt:lpstr>
      <vt:lpstr>The problem and its constraints</vt:lpstr>
      <vt:lpstr>Four eras of sign language recognition</vt:lpstr>
      <vt:lpstr>Project objectives</vt:lpstr>
      <vt:lpstr>One platform, two pathways</vt:lpstr>
      <vt:lpstr>A 156-D bimanual feature vector</vt:lpstr>
      <vt:lpstr>Two classifiers, one winner</vt:lpstr>
      <vt:lpstr>Hold-to-confirm kills the flicker</vt:lpstr>
      <vt:lpstr>Reverse pathway: from speech to sign</vt:lpstr>
      <vt:lpstr>A seven-module web platform</vt:lpstr>
      <vt:lpstr>Dataset: 7,352 samples, 45 classes</vt:lpstr>
      <vt:lpstr>Sample signs from the dataset</vt:lpstr>
      <vt:lpstr>Classification results</vt:lpstr>
      <vt:lpstr>27.2 ms end to end, about 37 FPS</vt:lpstr>
      <vt:lpstr>How it compares with the literature</vt:lpstr>
      <vt:lpstr>Conclusion and future work</vt:lpstr>
      <vt:lpstr>Thank you</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Indian Sign Language Recognition and Bidirectional Translation System</dc:title>
  <dc:creator>Rohit Kumar Gupta, Krishna Singh</dc:creator>
  <dc:subject>PptxGenJS Presentation</dc:subject>
  <cp:lastModifiedBy>seaem</cp:lastModifiedBy>
  <cp:revision>5</cp:revision>
  <dcterms:created xsi:type="dcterms:W3CDTF">2026-10-16T08:55:00Z</dcterms:created>
  <dcterms:modified xsi:type="dcterms:W3CDTF">2026-10-16T09:49:15Z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2D5E838069174374A0C99F06C22F0FDD_12</vt:lpwstr>
  </property>
  <property fmtid="{D5CDD505-2E9C-101B-9397-08002B2CF9AE}" pid="3" name="KSOProductBuildVer">
    <vt:lpwstr>1033-12.1.0.29162</vt:lpwstr>
  </property>
</Properties>
</file>