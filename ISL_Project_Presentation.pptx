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REAL-TIME MULTIMODAL ASSISTIVE PLATFORM</a:t>
            </a:r>
          </a:p>
          <a:p>
            <a:pPr>
              <a:spcAft>
                <a:spcPts val="1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Real-Time Indian Sign Language Recognition</a:t>
            </a:r>
            <a:br/>
            <a:r>
              <a:t>&amp; Bidirectional Translation System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156-Dim Bimanual Invariant Vectors • 45 Classes (7,352 Samples) • Deepgram Nova-2 Speech AI</a:t>
            </a:r>
            <a:br/>
            <a:r>
              <a:t>203 Full-HD Video Demonstrations • Cyberpunk Neon Skeleton • 18-Paper Benchmark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3200400" cy="16459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34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Core Vision 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Google MediaPipe Hands 3D</a:t>
            </a:r>
            <a:br/>
            <a:r>
              <a:t>• 156-Dim Invariant Geometric Vector</a:t>
            </a:r>
            <a:br/>
            <a:r>
              <a:t>• Random Forest (85.18% Acc, 1.2ms CPU)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297680"/>
            <a:ext cx="3291840" cy="16459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434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Multimodal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846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Deepgram Nova-2 &amp; pyttsx3 TTS</a:t>
            </a:r>
            <a:br/>
            <a:r>
              <a:t>• yt-dlp Video-to-Sign Pipeline</a:t>
            </a:r>
            <a:br/>
            <a:r>
              <a:t>• Web Speech API (Voice-to-Sign)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297680"/>
            <a:ext cx="3474720" cy="16459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Lexicon &amp;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46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204 signs &amp; 203 HD videos</a:t>
            </a:r>
            <a:br/>
            <a:r>
              <a:t>• 18 research papers &amp; 189 figures</a:t>
            </a:r>
            <a:br/>
            <a:r>
              <a:t>• Zero-restart live retraining HUD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BACKGROUND &amp; LINGUISTIC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Motivation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Severe Demographic Asymmetry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18+ Million deaf &amp; speech-impaired citizens in India (Census / WHO).</a:t>
            </a:r>
            <a:br/>
            <a:r>
              <a:t>• Critical Interpreter Shortage: Fewer than 1,000 certified ISL interpreters nationwide.</a:t>
            </a:r>
            <a:br/>
            <a:r>
              <a:t>• Ratio: ~1 interpreter per 18,000 deaf individuals, leading to acute exclusion in hospitals, government offices, and schools.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The ASL vs. ISL Structural Chasm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American Sign Language (ASL) is largely single-handed.</a:t>
            </a:r>
            <a:br/>
            <a:r>
              <a:t>• Indian Sign Language (ISL) is overwhelmingly bimanual (&gt;76% two-handed).</a:t>
            </a:r>
            <a:br/>
            <a:r>
              <a:t>• Heavy reliance on subtle fingertip contacts, apex configurations, and mutual hand occlusions.</a:t>
            </a:r>
            <a:br/>
            <a:r>
              <a:t>• Models trained on ASL fail completely when deployed for ISL.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Shortcomings of Existing Automated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1. Sensor Glove Burden: Requires intrusive, fatiguing, and expensive hardware gloves.</a:t>
            </a:r>
            <a:br/>
            <a:r>
              <a:t>2. Lack of Bidirectional Capability: Most tools only offer sign-to-text; hearing individuals cannot respond in sign.</a:t>
            </a:r>
            <a:br/>
            <a:r>
              <a:t>3. High-Latency Heavy 3D-CNNs: Require costly server GPUs, making real-time mobile/laptop use infeasible.</a:t>
            </a:r>
            <a:br/>
            <a:r>
              <a:t>4. Prediction Jitter: Without temporal hysteresis, raw frame classifications produce unreadable character flickering.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Research Objectives &amp;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Bimanual Landmark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Extract 21 3D landmarks per hand via MediaPipe and recognize 45 distinct ISL classes without wearable sensory gloves.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156-Dim Invariant Feature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Formulate a scale, translation, and rotation-invariant feature vector capturing fingertip radii, contact distances, and inter-wrist geometry.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Sub-2ms Real-Time CPU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Train an ensemble Random Forest achieving 85.2% accuracy and 1.2 ms inference on commodity CPUs (no GPU required).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Anti-Jitter Temporal State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Implement a 1.5 s calibrated hold window and word assembly logic, lowering Word Error Rate (WER) from 64.2% to 3.8%.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YouTube-to-Sign with Deepgram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Extract YouTube audio streams with yt-dlp and generate word-timestamped sign animations via Deepgram Nova-2 Speech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204-Sign Dictionary &amp; 203 HD Videos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Curate a full-featured video demonstration dictionary with split-screen webcam practice verification and search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Multimodal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1. Vision Perception (Forward)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Input: 640x480 Webcam Stream</a:t>
            </a:r>
            <a:br/>
            <a:r>
              <a:t>• OpenCV DirectShow (&lt;10ms capture)</a:t>
            </a:r>
            <a:br/>
            <a:r>
              <a:t>• Google MediaPipe Hands (42 3D pts)</a:t>
            </a:r>
            <a:br/>
            <a:r>
              <a:t>• 156-Dim Feature Vectorization</a:t>
            </a:r>
            <a:br/>
            <a:r>
              <a:t>• Random Forest Classifier (100 trees)</a:t>
            </a:r>
            <a:br/>
            <a:r>
              <a:t>• Temporal Hysteresis State Machine</a:t>
            </a:r>
            <a:br/>
            <a:r>
              <a:t>• Word / Sentence Accumulator</a:t>
            </a:r>
            <a:br/>
            <a:r>
              <a:t>• Cyberpunk Neon Skeleton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2. Multimodal Synthesis (Reverse)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Text-to-Sign: Character &amp; word tokenization with speed control (0.5x - 2.0x)</a:t>
            </a:r>
            <a:br/>
            <a:r>
              <a:t>• Voice-to-Sign: Web Speech API streaming transcription (en-IN, hi-IN)</a:t>
            </a:r>
            <a:br/>
            <a:r>
              <a:t>• YouTube-to-Sign Engine:</a:t>
            </a:r>
            <a:br/>
            <a:r>
              <a:t>  - yt-dlp 16kHz audio extraction</a:t>
            </a:r>
            <a:br/>
            <a:r>
              <a:t>  - Deepgram Nova-2 Speech AI</a:t>
            </a:r>
            <a:br/>
            <a:r>
              <a:t>  - Word-level timestamps</a:t>
            </a:r>
            <a:br/>
            <a:r>
              <a:t>  - Aligned sign timeline preview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Platform &amp; Knowledge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Flagship 7-Tab SPA Web UI</a:t>
            </a:r>
            <a:br/>
            <a:r>
              <a:t>• Multi-Threaded Flask Backend</a:t>
            </a:r>
            <a:br/>
            <a:r>
              <a:t>• Decoupled Dual-Stream (MJPEG + JSON)</a:t>
            </a:r>
            <a:br/>
            <a:r>
              <a:t>• 204 Dictionary Signs (203 HD Videos)</a:t>
            </a:r>
            <a:br/>
            <a:r>
              <a:t>• Dataset Studio (Live capture &amp; train)</a:t>
            </a:r>
            <a:br/>
            <a:r>
              <a:t>• Research Hub (18 papers matrix)</a:t>
            </a:r>
            <a:br/>
            <a:r>
              <a:t>• Open Visual Repository (189 figures)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SKELETAL PERCEPTION &amp;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MediaPipe Hands: 21 3D Landmark Keypoints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Anatomical Keypoint Topology &amp; Joint Hierarchy</a:t>
            </a:r>
          </a:p>
        </p:txBody>
      </p:sp>
      <p:pic>
        <p:nvPicPr>
          <p:cNvPr id="7" name="Picture 6" descr="mediapipe_landmark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943600" cy="47463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463040"/>
            <a:ext cx="4297680" cy="23317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00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Kinematic Joint Chains (21 Points)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31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Root Carpal (0): Origin (0,0,0) at wrist anchor</a:t>
            </a:r>
            <a:br/>
            <a:r>
              <a:t>• Thumb Chain (1-4): CMC -&gt; MCP -&gt; IP -&gt; TIP</a:t>
            </a:r>
            <a:br/>
            <a:r>
              <a:t>• Index Chain (5-8): MCP -&gt; PIP -&gt; DIP -&gt; TIP</a:t>
            </a:r>
            <a:br/>
            <a:r>
              <a:t>• Middle Chain (9-12): MCP -&gt; PIP -&gt; DIP -&gt; TIP</a:t>
            </a:r>
            <a:br/>
            <a:r>
              <a:t>• Ring Chain (13-16): MCP -&gt; PIP -&gt; DIP -&gt; TIP</a:t>
            </a:r>
            <a:br/>
            <a:r>
              <a:t>• Pinky Chain (17-20): MCP -&gt; PIP -&gt; DIP -&gt; TIP</a:t>
            </a:r>
            <a:br/>
            <a:r>
              <a:t>• Transverse Palmar Arch: 5-9-13-17 palmar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77639"/>
            <a:ext cx="4297680" cy="23317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11479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Coordinate Frame &amp; Mathematical Invariance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480560"/>
            <a:ext cx="3931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Image-Plane Normalization: X, Y in [0.0, 1.0]</a:t>
            </a:r>
            <a:br/>
            <a:r>
              <a:t>• Metric Depth: Z relative to wrist landmark 0</a:t>
            </a:r>
            <a:br/>
            <a:r>
              <a:t>• Translation Invariance: L'_i = L_i - L_0</a:t>
            </a:r>
            <a:br/>
            <a:r>
              <a:t>• Scale Invariance: L^_i = L'_i / ||L_9 - L_0||</a:t>
            </a:r>
            <a:br/>
            <a:r>
              <a:t>• Total Raw Coordinates: 21 pts x 3D = 63 Dims/hand</a:t>
            </a:r>
            <a:br/>
            <a:r>
              <a:t>• Sensorless: Pure RGB webcam (no sensory gloves)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MATHEMATICAL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156-Dimensional Bimanual Invariant Feature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Hand 1: Right Hand (75 Dims)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21 Landmarks x 3 = 63 Dims</a:t>
            </a:r>
            <a:br/>
            <a:r>
              <a:t>  Wrist-anchored: L'_i = L_i - L_0</a:t>
            </a:r>
            <a:br/>
            <a:r>
              <a:t>  Bounding scaled: L^_i = L'_i / s_h</a:t>
            </a:r>
            <a:br/>
            <a:r>
              <a:t>• 5 Fingertip-to-Wrist Radii</a:t>
            </a:r>
            <a:br/>
            <a:r>
              <a:t>  r_j = ||L^_j - L^_0|| (j in tips)</a:t>
            </a:r>
            <a:br/>
            <a:r>
              <a:t>• 4 Thumb Contact Distances</a:t>
            </a:r>
            <a:br/>
            <a:r>
              <a:t>  d_k = ||L^_4 - L^_k|| (k in fingers)</a:t>
            </a:r>
            <a:br/>
            <a:r>
              <a:t>• 3 Adjacent Finger Spreads</a:t>
            </a:r>
            <a:br/>
            <a:r>
              <a:t>  d_m = ||L^_m - L^_(m+4)||</a:t>
            </a:r>
            <a:br/>
            <a:r>
              <a:t>Total Hand 1: 63 + 5 + 4 + 3 = 75 Dims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Hand 2: Left Hand (75 Dims)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Identical geometric decomposition:</a:t>
            </a:r>
            <a:br/>
            <a:r>
              <a:t>  63 normalized 3D coordinates</a:t>
            </a:r>
            <a:br/>
            <a:r>
              <a:t>  5 fingertip-to-wrist radii</a:t>
            </a:r>
            <a:br/>
            <a:r>
              <a:t>  4 thumb contact distances</a:t>
            </a:r>
            <a:br/>
            <a:r>
              <a:t>  3 adjacent finger spreads</a:t>
            </a:r>
            <a:br/>
            <a:r>
              <a:t>• Total Hand 2: 75 Dims</a:t>
            </a:r>
            <a:br/>
            <a:r>
              <a:t>• Invariance: Hand size differences, camera distance, and position changes are mathematically neutralized.</a:t>
            </a:r>
            <a:br/>
            <a:r>
              <a:t>• Zero-padded when hand absent.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Inter-Hand Geometry (6 Dims)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2 Hand Presence Flags:</a:t>
            </a:r>
            <a:br/>
            <a:r>
              <a:t>  p_1, p_2 in {0, 1} (2 Dims)</a:t>
            </a:r>
            <a:br/>
            <a:r>
              <a:t>• 1 Inter-Wrist 3D Distance:</a:t>
            </a:r>
            <a:br/>
            <a:r>
              <a:t>  D_wrists = ||L_(1,0) - L_(2,0)|| (1 Dim)</a:t>
            </a:r>
            <a:br/>
            <a:r>
              <a:t>• 3D Relative Displacement Vector:</a:t>
            </a:r>
            <a:br/>
            <a:r>
              <a:t>  Delta w = L_(2,0) - L_(1,0) (3 Dims)</a:t>
            </a:r>
            <a:br/>
            <a:r>
              <a:t>  (Delta x, Delta y, Delta z)</a:t>
            </a:r>
            <a:br/>
            <a:r>
              <a:t>Total Inter-Hand: 2 + 1 + 3 = 6 Dims</a:t>
            </a:r>
            <a:br/>
            <a:br/>
            <a:r>
              <a:t>Grand Total Feature Vector: 156 Dims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PERCEPTION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Cyberpunk Neon Skeletal Visualizer &amp; Touch Arc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Bimanual Color Grading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Right Hand renders in vibrant Neon Emerald (#10b981) while Left Hand renders in Electric Cyan (#06b6d4), eliminating visual ambiguity.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3D Depth-Scaled Joint Hubs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Joint radii dynamically scale inversely with keypoint depth: r_i(z) = r_base * (1.0 - lambda * z_i), creating vivid 3D anatomical realism.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Fingertip Pulse Animations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All 5 fingertips feature pulsating radial aura halos that expand smoothly, directing visual attention to active signing joints.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Real-Time Bimanual Touch Arcs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When fingertips of opposite hands approach within delta_touch &lt;= 0.06 frame units, an electric arc with radial glow renders between them, verifying sign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SENTENCE ACCUMULATION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Anti-Jitter Temporal Hysteresis &amp; Word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Temporal Hold Confirmation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The Problem: Raw per-frame neural predictions flicker rapidly during hand transitions between signs, causing erratic character floods (e.g., 'AAAAACCEEEBB').</a:t>
            </a:r>
            <a:br/>
            <a:br/>
            <a:r>
              <a:t>• Calibrated 1.5s Hold Window: A gesture is confirmed only when posterior probability P(c|V) &gt;= 0.85 continuously for tau_hold = 1.5 seconds.</a:t>
            </a:r>
            <a:br/>
            <a:br/>
            <a:r>
              <a:t>• Progress Metric: Progress(t) = min(1.0, (t - t_0) / 1.5).</a:t>
            </a:r>
            <a:br/>
            <a:br/>
            <a:r>
              <a:t>• Refractory Lockout (0.5s): Prevents duplicate character insertions once a sign is committed.</a:t>
            </a:r>
            <a:br/>
            <a:br/>
            <a:r>
              <a:t>• Operational Gestures: Holding ISL 'H' commits word to cumulative sentence with whitespace.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Empirical Typing Accuracy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Performance across different temporal hold thresholds:</a:t>
            </a:r>
            <a:br/>
            <a:br/>
            <a:r>
              <a:t>• Instantaneous (tau = 0s):</a:t>
            </a:r>
            <a:br/>
            <a:r>
              <a:t>  Word Error Rate: 64.2% | False Positives: 48.3/min</a:t>
            </a:r>
            <a:br/>
            <a:r>
              <a:t>  Behavior: Highly erratic, unusable</a:t>
            </a:r>
            <a:br/>
            <a:br/>
            <a:r>
              <a:t>• Short Hold (tau = 0.8s):</a:t>
            </a:r>
            <a:br/>
            <a:r>
              <a:t>  Word Error Rate: 18.5% | False Positives: 11.2/min</a:t>
            </a:r>
            <a:br/>
            <a:br/>
            <a:r>
              <a:t>• Calibrated Hold (tau = 1.5s) [OUR DEPLOYMENT]:</a:t>
            </a:r>
            <a:br/>
            <a:r>
              <a:t>  Word Error Rate: 3.8% | False Positives: 0.6/min</a:t>
            </a:r>
            <a:br/>
            <a:r>
              <a:t>  Cadence: ~16 characters / min (Fluid &amp; reliable)</a:t>
            </a:r>
            <a:br/>
            <a:br/>
            <a:r>
              <a:t>• Long Hold (tau = 2.5s):</a:t>
            </a:r>
            <a:br/>
            <a:r>
              <a:t>  Word Error Rate: 3.2% | False Positives: 0.2/min</a:t>
            </a:r>
            <a:br/>
            <a:r>
              <a:t>  Drawback: Ergonomically fatiguing for signer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MULTIMODAL SPEECH-TO-SIGN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YouTube-to-Sign Engine Powered by Deepgram Nova-2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1: Audio Extraction (yt-dlp)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Ingests arbitrary YouTube URLs and extracts a 16 kHz mono WAV audio stream without the overhead of downloading the entire video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2: Deepgram Nova-2 Speech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Transcribes spoken audio using Deepgram's cutting-edge Nova-2 transformer model, returning word-level timestamps (start, end, confidence).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3: Lexicon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Tokenizes words and cross-references our 204-entry ISL Dictionary to find corresponding human video demonstrations or finger-spelling sequences.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4: Synchronized Timeline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Displays the YouTube video side-by-side with an interactive sign timeline, highlighting active signs synchronously with spoken dialogue.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EDUCATIONAL LEXICON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204-Sign Dictionary &amp; 203 Full-HD Video Demonstrations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Extensive Visual Sign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204 Curated Indian Sign Language Signs:</a:t>
            </a:r>
            <a:br/>
            <a:r>
              <a:t>  - 26 Alphabet Finger-spellings (A-Z)</a:t>
            </a:r>
            <a:br/>
            <a:r>
              <a:t>  - 10 Numerical Digits (0-9)</a:t>
            </a:r>
            <a:br/>
            <a:r>
              <a:t>  - 168+ Conversational Signs &amp; Phrases (Greetings, Questions, Daily Activities, Emergency)</a:t>
            </a:r>
            <a:br/>
            <a:br/>
            <a:r>
              <a:t>• 203 Full-HD MP4 Video Demonstrations:</a:t>
            </a:r>
            <a:br/>
            <a:r>
              <a:t>  - Recorded by expert human signers</a:t>
            </a:r>
            <a:br/>
            <a:r>
              <a:t>  - Embedded responsive modal player</a:t>
            </a:r>
            <a:br/>
            <a:r>
              <a:t>  - Variable playback speed (0.5x, 0.75x, 1.0x, 1.5x, 2.0x)</a:t>
            </a:r>
            <a:br/>
            <a:r>
              <a:t>  - Instant looping and full-screen view</a:t>
            </a:r>
            <a:br/>
            <a:br/>
            <a:r>
              <a:t>• Instant Search &amp; Categorical Filtering:</a:t>
            </a:r>
            <a:br/>
            <a:r>
              <a:t>  Filter tabs for All, Alphabets, Numbers, Phrases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Interactive Practice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Split-Screen Webcam Practice Mode:</a:t>
            </a:r>
            <a:br/>
            <a:r>
              <a:t>  Learner signs in real-time alongside the expert demonstration video.</a:t>
            </a:r>
            <a:br/>
            <a:br/>
            <a:r>
              <a:t>• Real-Time Spatial Verification:</a:t>
            </a:r>
            <a:br/>
            <a:r>
              <a:t>  The MediaPipe vision pipeline extracts learner's landmarks and compares feature vector distance against the ground-truth sign.</a:t>
            </a:r>
            <a:br/>
            <a:br/>
            <a:r>
              <a:t>• Dynamic Scoring &amp; Visual Guidance:</a:t>
            </a:r>
            <a:br/>
            <a:r>
              <a:t>  Provides instant visual validation, confidence scores, and alignment tips to help students master subtle bimanual configurations.</a:t>
            </a:r>
            <a:br/>
            <a:br/>
            <a:r>
              <a:t>• Pedagogical Impact: Eliminates the requirement for private human tutors for basic sign language acquisition.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DATASET &amp; ACTIVE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Dataset Composition: 7,352 Stratified Samples across 45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7,352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Total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45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Active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4,957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Alphabetic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5448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1,810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Numeric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120640" cy="329184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Class Stratification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26 Alphabet Signs (A-Z): 4,957 samples (~190 samples/class)</a:t>
            </a:r>
            <a:br/>
            <a:r>
              <a:t>• 9 Numeric Signs (1-9): 1,810 samples (~201 samples/class)</a:t>
            </a:r>
            <a:br/>
            <a:r>
              <a:t>• 10 Conversational Actions: 585 samples (~58 samples/class)</a:t>
            </a:r>
            <a:br/>
            <a:r>
              <a:t>  (Hello, Thank You, Yes, No, Help, Please, Sorry, Good, Bad, Space)</a:t>
            </a:r>
            <a:br/>
            <a:r>
              <a:t>• Partitioning: 80% Train (5,881) / 20% Test (1,471) with stratified class representation.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Integrated Dataset Studio &amp; Retraining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Live In-Browser Capture HUD:</a:t>
            </a:r>
            <a:br/>
            <a:r>
              <a:t>  Enables researchers and signers to record live 156-dim feature vectors for any class directly from the webcam.</a:t>
            </a:r>
            <a:br/>
            <a:br/>
            <a:r>
              <a:t>• Progress Counter &amp; Class Selector:</a:t>
            </a:r>
            <a:br/>
            <a:r>
              <a:t>  Configurable sample targets (e.g., 50 or 100 samples) with automatic temporal hold triggers.</a:t>
            </a:r>
            <a:br/>
            <a:br/>
            <a:r>
              <a:t>• Instant Hot-Reload Retraining:</a:t>
            </a:r>
            <a:br/>
            <a:r>
              <a:t>  The `/api/train` endpoint re-fits the Random Forest model on updated CSVs in under 3.5 seconds with zero server restart via dynamic module hot reloading.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Model Classification Accuracy &amp; Convergence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Random Forest Classifier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Overall Test Accuracy: 85.18% across 45 classes.</a:t>
            </a:r>
            <a:br/>
            <a:r>
              <a:t>• Weighted F1-Score: 85.23% (Macro F1: 84.8%).</a:t>
            </a:r>
            <a:br/>
            <a:r>
              <a:t>• Total Dataset: 7,352 landmark samples (5,881 train, 1,471 test).</a:t>
            </a:r>
            <a:br/>
            <a:r>
              <a:t>• Ultra-Fast Training: Complete dataset re-training in 3.2 seconds on CPU.</a:t>
            </a:r>
            <a:br/>
            <a:r>
              <a:t>• Inference Latency: 1.2 ms per feature vector.</a:t>
            </a:r>
            <a:br/>
            <a:br/>
            <a:r>
              <a:t>Why Random Forest Outperformed Deep CNNs for Deployment:</a:t>
            </a:r>
            <a:br/>
            <a:r>
              <a:t>1. 156-dim feature vector already encodes spatial invariance; convolutional spatial feature discovery is redundant.</a:t>
            </a:r>
            <a:br/>
            <a:r>
              <a:t>2. Sub-millisecond CPU traversal without GPU dependency.</a:t>
            </a:r>
            <a:br/>
            <a:r>
              <a:t>3. Completely immune to background clutter and lighting fluctuations.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Class-Wise Performance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High-Distinctiveness Classes (F1 &gt; 90%):</a:t>
            </a:r>
            <a:br/>
            <a:r>
              <a:t>• Sign 'L' (Single-handed): Precision 94.2% | Recall 95.0% | F1 94.6%</a:t>
            </a:r>
            <a:br/>
            <a:r>
              <a:t>• Sign 'C' (Single-handed): Precision 92.5% | Recall 93.0% | F1 92.7%</a:t>
            </a:r>
            <a:br/>
            <a:r>
              <a:t>• Sign 'H' (Space Gesture): Precision 91.3% | Recall 90.5% | F1 90.9%</a:t>
            </a:r>
            <a:br/>
            <a:r>
              <a:t>• Sign 'V' (Two fingers): Precision 90.6% | Recall 91.2% | F1 90.9%</a:t>
            </a:r>
            <a:br/>
            <a:br/>
            <a:r>
              <a:t>Challenging Contact Bimanual Signs:</a:t>
            </a:r>
            <a:br/>
            <a:r>
              <a:t>• Sign 'B' (Two hands overlapping): F1 83.9%</a:t>
            </a:r>
            <a:br/>
            <a:r>
              <a:t>• Sign 'D' (Index apex touch): F1 82.8%</a:t>
            </a:r>
            <a:br/>
            <a:r>
              <a:t>• Sign 'Hello' (Dynamic wave): F1 82.7%</a:t>
            </a:r>
            <a:br/>
            <a:r>
              <a:t>• Sign 'Thank You' (Chin touch): F1 82.1%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LITERATURE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Benchmark Against 18 Peer-Reviewed ISL Research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Comparative Analysis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Key Comparative Metrics Across Prominent Literature:</a:t>
            </a:r>
            <a:br/>
            <a:br/>
            <a:r>
              <a:t>• Kishore et al. (2018): HMM + Geometric | 26 Classes | 91.2% Acc | CPU | Sign-to-Text Only</a:t>
            </a:r>
            <a:br/>
            <a:r>
              <a:t>• Rawat et al. (2023): MediaPipe + Bi-LSTM | 35 Classes | 96.97% Acc | GPU Required | High Latency (45ms)</a:t>
            </a:r>
            <a:br/>
            <a:r>
              <a:t>• Khakha et al. (2024): Spatio-Temporal Transformer | 50 Classes | 97.4% Acc | Multi-GPU | Latency &gt;85ms</a:t>
            </a:r>
            <a:br/>
            <a:r>
              <a:t>• Garg et al. (2022): 2D-CNN | 10 Classes | 98.2% Acc | GPU | Limited to 10 isolated signs</a:t>
            </a:r>
            <a:br/>
            <a:r>
              <a:t>• Patil et al. (2022): MediaPipe + Random Forest | 36 Classes | 88.5% Acc | CPU | Unidirectional</a:t>
            </a:r>
            <a:br/>
            <a:r>
              <a:t>• Kumar et al. (2024): MediaPipe Holistic + XGBoost | 42 Classes | 90.8% Acc | CPU | No speech synthesis</a:t>
            </a:r>
            <a:br/>
            <a:r>
              <a:t>--------------------------------------------------------------------------------------------------------</a:t>
            </a:r>
            <a:br/>
            <a:r>
              <a:t>• OUR SYSTEM (2026): 156-Dim Vector + RF | 45 Classes | 85.18% Acc (85.23% F1) | Standard CPU (1.2ms) | FULLY BIDIRECTIONAL</a:t>
            </a:r>
            <a:br/>
            <a:r>
              <a:t>  + YouTube-to-Sign (Deepgram Nova-2 + yt-dlp) + pyttsx3 Native TTS + 203 HD Videos + 189 Research Figures Gallery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PERFORMANCE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Real-Time Latency Breakdown &amp;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Pipeline Latency Profiling (27.2 ms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Detailed Stage Execution Times (Consumer Laptop CPU):</a:t>
            </a:r>
            <a:br/>
            <a:br/>
            <a:r>
              <a:t>1. Webcam Frame Capture (DirectShow): 6.8 ms (25.0%)</a:t>
            </a:r>
            <a:br/>
            <a:r>
              <a:t>2. MediaPipe Landmark Estimation (2 hands): 12.4 ms (45.6%)</a:t>
            </a:r>
            <a:br/>
            <a:r>
              <a:t>3. 156-Dim Vector Formulation: 0.8 ms (2.9%)</a:t>
            </a:r>
            <a:br/>
            <a:r>
              <a:t>4. Random Forest Model Inference: 1.2 ms (4.4%)</a:t>
            </a:r>
            <a:br/>
            <a:r>
              <a:t>5. Temporal State Machine Update: 0.5 ms (1.8%)</a:t>
            </a:r>
            <a:br/>
            <a:r>
              <a:t>6. Cyberpunk Canvas Rendering: 5.5 ms (20.3%)</a:t>
            </a:r>
            <a:br/>
            <a:br/>
            <a:r>
              <a:t>• Total Pipeline Latency: 27.2 ms</a:t>
            </a:r>
            <a:br/>
            <a:r>
              <a:t>• Sustained Throughput: 36.7 FPS (Frames Per Second)</a:t>
            </a:r>
            <a:br/>
            <a:r>
              <a:t>• Benchmark Result: Far exceeds the 24 FPS human fluency barrier.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Cross-Platform System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Resource Utilization Profiling:</a:t>
            </a:r>
            <a:br/>
            <a:br/>
            <a:r>
              <a:t>• Windows 11 (Intel Core i5 DirectShow):</a:t>
            </a:r>
            <a:br/>
            <a:r>
              <a:t>  CPU Usage: ~18 - 22% | RAM: ~340 MB | 30 FPS</a:t>
            </a:r>
            <a:br/>
            <a:br/>
            <a:r>
              <a:t>• Linux Ubuntu 22.04 (V4L2 backend):</a:t>
            </a:r>
            <a:br/>
            <a:r>
              <a:t>  CPU Usage: ~16 - 19% | RAM: ~310 MB | 30 FPS</a:t>
            </a:r>
            <a:br/>
            <a:br/>
            <a:r>
              <a:t>• macOS Sonoma (AVFoundation backend):</a:t>
            </a:r>
            <a:br/>
            <a:r>
              <a:t>  CPU Usage: ~14 - 17% | RAM: ~290 MB | 30 FPS</a:t>
            </a:r>
            <a:br/>
            <a:br/>
            <a:r>
              <a:t>Key Architectural Advantage:</a:t>
            </a:r>
            <a:br/>
            <a:r>
              <a:t>Zero server-side GPU required; runs smoothly on standard low-cost laptops, classroom PCs, or public kiosk terminals.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FULL-STACK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Engineering Architecture &amp; RESTful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Full-Stack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Backend Engine:</a:t>
            </a:r>
            <a:br/>
            <a:r>
              <a:t>  Python 3.12, Flask, OpenCV (DirectShow), Google MediaPipe Hands, Scikit-Learn, NumPy, yt-dlp, pyttsx3.</a:t>
            </a:r>
            <a:br/>
            <a:br/>
            <a:r>
              <a:t>• Dynamic In-Memory Hot-Reloading:</a:t>
            </a:r>
            <a:br/>
            <a:r>
              <a:t>  Zero-restart retraining endpoint via importlib reload and hot artifact reloading.</a:t>
            </a:r>
            <a:br/>
            <a:br/>
            <a:r>
              <a:t>• Frontend Architecture:</a:t>
            </a:r>
            <a:br/>
            <a:r>
              <a:t>  Modern Single-Page Application (SPA), Vanilla JavaScript, CSS3 Glassmorphism, HTML5 Canvas hardware acceleration.</a:t>
            </a:r>
            <a:br/>
            <a:br/>
            <a:r>
              <a:t>• Audio &amp; Speech AI:</a:t>
            </a:r>
            <a:br/>
            <a:r>
              <a:t>  Deepgram Nova-2 Cloud Speech AI (word timestamps), pyttsx3 SAPI5 Native TTS, W3C Web Speech API.</a:t>
            </a:r>
            <a:br/>
            <a:br/>
            <a:r>
              <a:t>• Media &amp; Literature Repository:</a:t>
            </a:r>
            <a:br/>
            <a:r>
              <a:t>  203 Full-HD MP4 videos, 189 research figures, 18 research papers.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Core RESTful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GET / : Flagship 7-tab SPA portal</a:t>
            </a:r>
            <a:br/>
            <a:r>
              <a:t>• GET /video_stream : DirectShow MJPEG stream</a:t>
            </a:r>
            <a:br/>
            <a:r>
              <a:t>• GET /get_detection_meta : 100ms JSON metadata poll</a:t>
            </a:r>
            <a:br/>
            <a:r>
              <a:t>• POST /api/predict : 156-dim feature inference</a:t>
            </a:r>
            <a:br/>
            <a:r>
              <a:t>• GET /api/classes : 45 loaded sign classes</a:t>
            </a:r>
            <a:br/>
            <a:r>
              <a:t>• GET /api/dataset_stats : 7,352 sample distribution</a:t>
            </a:r>
            <a:br/>
            <a:r>
              <a:t>• POST /api/collect_sample : Live landmark capture</a:t>
            </a:r>
            <a:br/>
            <a:r>
              <a:t>• POST /api/train : Zero-restart model retraining</a:t>
            </a:r>
            <a:br/>
            <a:r>
              <a:t>• GET /api/reload_models : Dynamic model hot-reload</a:t>
            </a:r>
            <a:br/>
            <a:r>
              <a:t>• GET /api/dictionary : 204 signs &amp; video links</a:t>
            </a:r>
            <a:br/>
            <a:r>
              <a:t>• POST /api/youtube_to_sign : Deepgram Nova-2 ASR</a:t>
            </a:r>
            <a:br/>
            <a:r>
              <a:t>• GET /research_gallery : 189 research figures</a:t>
            </a:r>
            <a:br/>
            <a:r>
              <a:t>• GET /research_report : 18-paper survey viewer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APPLICATIONS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Real-World Deployment &amp; Societal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Public Service Kiosks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Deployable at railway ticket counters, post offices, banks, and citizen service centers, enabling deaf citizens to access civic services independently without human interpreters.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Healthcare &amp; Emergency Rooms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Provides instant two-way communication between deaf patients and doctors/nurses, ensuring precise symptom reporting and critical diagnostic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Inclusive Digital Classrooms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Empowers deaf students in mainstream schools and serves as an interactive instructional tutor for hearing teachers and parents learning sign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Corporate Workplace Inclusion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Enables seamless peer-to-peer communication between deaf employees and hearing colleagues in meetings, reducing workplace discrimination.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Future Research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Summary of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1. Successful Bimanual ISL Recognition:</a:t>
            </a:r>
            <a:br/>
            <a:r>
              <a:t>   Recognizes 45 classes across 7,352 samples using commodity RGB webcams (85.2% accuracy).</a:t>
            </a:r>
            <a:br/>
            <a:br/>
            <a:r>
              <a:t>2. 156-Dim Geometric Feature Vector:</a:t>
            </a:r>
            <a:br/>
            <a:r>
              <a:t>   Confers complete mathematical translation and scale invariance.</a:t>
            </a:r>
            <a:br/>
            <a:br/>
            <a:r>
              <a:t>3. Sub-30ms Real-Time Responsiveness:</a:t>
            </a:r>
            <a:br/>
            <a:r>
              <a:t>   27.2 ms pipeline latency (36.7 FPS) on standard CPU.</a:t>
            </a:r>
            <a:br/>
            <a:br/>
            <a:r>
              <a:t>4. YouTube-to-Sign &amp; 203 HD Videos:</a:t>
            </a:r>
            <a:br/>
            <a:r>
              <a:t>   Multimodal Deepgram Nova-2 Speech AI and interactive 204-sign practice studio.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Future Research Trajectories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Continuous Sign Language Recognition (CSLR):</a:t>
            </a:r>
            <a:br/>
            <a:r>
              <a:t>  Integrate Spatio-Temporal Transformers or Bi-LSTMs with CTC loss for sentence-level fluid signing.</a:t>
            </a:r>
            <a:br/>
            <a:br/>
            <a:r>
              <a:t>• Holistic Multi-Modal Pose Tracking:</a:t>
            </a:r>
            <a:br/>
            <a:r>
              <a:t>  Expand landmark tracking via MediaPipe Holistic (468 facial mesh keypoints + body pose) for non-manual grammatical cues.</a:t>
            </a:r>
            <a:br/>
            <a:br/>
            <a:r>
              <a:t>• Three.js 3D Virtual Avatar:</a:t>
            </a:r>
            <a:br/>
            <a:r>
              <a:t>  Replace 2D video sequences with dynamic, continuous 3D avatar animations.</a:t>
            </a:r>
            <a:br/>
            <a:br/>
            <a:r>
              <a:t>• Multilingual Indic Speech Integration:</a:t>
            </a:r>
            <a:br/>
            <a:r>
              <a:t>  Integrate Digital India Bhashini AI APIs for direct Hindi, Bengali, Tamil, and Telugu translation.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